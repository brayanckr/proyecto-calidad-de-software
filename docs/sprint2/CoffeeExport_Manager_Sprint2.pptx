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 apertura. Somos el equipo de RITECH SAS y presentamos el avance del Sprint 2 de CoffeeExport Manager, el sistema web para administrar las exportaciones de café y cacao de Colombia hacia la Unión Europea. En unos 10 minutos mostraremos el estado del proyecto, los requerimientos, los diagramas, el modelo de datos, el plan de pruebas, el trabajo de cada integrante y una demo del prototipo. Equipo: Brayan Guerrero, Juan Jurado, Nicoll López, Alexander Rodríguez y Mario Zambrano. Tiempo sugerido: 30 segundos.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del estado. LISTO: Sprint 1 con HU-01 a HU-04 (autenticación, clientes, productos e inventario) y los mockups de Login, Dashboard, Nueva Exportación y Reportes. EN PROGRESO: documentación de calidad del Sprint 2 (requerimientos, UML, backlog, modelo de datos) y ejecución del plan de pruebas. SIGUE: implementar Exportaciones y Documentación, completar Usuarios, y luego Pagos, Reportes y Dashboard. Aclarar que el estado del Sprint 1 debe validarse contra el código y Jira.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 requerimientos. Tenemos 31 funcionales distribuidos en los 9 módulos, 13 no funcionales y 9 de restricción. Destacar: seguridad con contraseñas BCrypt, control de sesiones y roles; cumplimiento de GDPR para datos de clientes europeos; documentación aduanera, certificado de origen y fitosanitario; monedas USD y EUR; stack Java 21, Spring Boot y MySQL. El detalle completo está en la sección 1 del documento Word.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el modelo UML de casos de uso, dividido en tres diagramas por módulo. Arriba a la izquierda: Usuarios, Clientes y Productos, donde todos los actores heredan de Usuario interno para iniciar sesión (UC-01). Abajo: Inventario, Exportaciones y Documentación; crear exportación incluye consultar inventario y adjuntar documentos la extiende. Arriba al centro: Pagos, Reportes y Dashboard. El Cliente internacional es opcional y está fuera del MVP. Las especificaciones textuales de los 13 casos están en la sección 2.3 del documento.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Diagrama entidad-relación del modelo mejorado. Cambios principales: usuarios referencia a roles mediante rol_id e incluye email, password_hash y activo; los permisos se normalizaron con roles_permisos; se agregó detalle_exportacion para que una exportación tenga varios productos con cantidad en kg y precio unitario; exportaciones incorpora país destino, puertos, fecha de envío y usuario creador; se agregaron bodegas y movimientos_inventario para trazabilidad; y timestamps en las entidades principales. Cada cambio está justificado en la sección 5.1 y el script DDL está en el anexo A.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cuatro ítems del Sprint 1: HU-01 Autenticación, HU-02 Clientes, HU-03 Productos y HU-04 Inventario. Los responsables mostrados son una propuesta que debe confirmarse con Jira y con el historial de Git; el código del Sprint 1 no estaba en el repositorio al preparar esta presentación. Cada integrante ampliará su aporte en las diapositivas individuales. Tiempo: 45 segundos.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épica por módulo, con entre 2 y 4 historias cada una, en formato Como, quiero, para, con prioridad, puntos y criterios de aceptación en Gherkin (Dado, Cuando, Entonces). Las HU-01 a HU-04 son las del Sprint 1, ya implementadas. Las otras 17 están en el backlog con sprint propuesto: Sprint 3 para Usuarios, Clientes, Productos, Inventario, Exportaciones y Documentación; Sprint 4 para Pagos, Reportes y Dashboard. Detalle y criterios de aceptación en la sección 4 del documento.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tiene 44 casos de prueba usando la plantilla de la materia. Mezcla pruebas unitarias sobre servicios y repositorios, de integración sobre controladores REST con MySQL, del sistema sobre los flujos de pantalla, y de seguridad (login fallido, BCrypt, acceso sin rol, inyección SQL básica). 35 casos cubren HU-01 a HU-04, que corresponden al Sprint 1. 9 casos son de módulos aún no implementados y quedan como pendientes. Importante: aún no se han registrado resultados de ejecución; las columnas resultado obtenido, pasa/no y fecha del plan están pendientes de diligenciar. No presentamos porcentajes de éxito porque no se han ejecutado. Los nombres de clases y métodos están marcados [VERIFICAR] hasta contrastarlos con el repositorio.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LA DEMO (aprox. 2 minutos). Aclarar al inicio que se muestra el prototipo de frontend (carpeta frontend/ del repositorio): las 9 pantallas funcionan con datos de demostración guardados en el navegador; el backend Spring Boot y MySQL aún no está conectado. Cuentas de demo: botones en la pantalla de Login.</a:t>
            </a:r>
          </a:p>
          <a:p>
            <a:r>
              <a:t>1) Login: abrir la pantalla, mostrar un intento con contraseña incorrecta (mensaje genérico) y luego ingresar con un usuario de prueba. Mencionar que la contraseña se guarda con BCrypt y la sesión se controla por rol (RNF-01 a RNF-03).</a:t>
            </a:r>
          </a:p>
          <a:p>
            <a:r>
              <a:t>2) Dashboard: mostrar los KPIs (total de exportaciones, clientes activos, inventario en kg, ventas del mes en USD), la gráfica de exportaciones por país, productos más vendidos y las últimas exportaciones. Los datos son de demostración.</a:t>
            </a:r>
          </a:p>
          <a:p>
            <a:r>
              <a:t>3) Clientes, Productos e Inventario (Sprint 1): registrar un cliente de la UE, ver el catálogo y consultar el stock por bodega.</a:t>
            </a:r>
          </a:p>
          <a:p>
            <a:r>
              <a:t>4) Nueva Exportación: recorrer el asistente de 4 pasos: información básica; cliente y destino con puerto de salida, puerto de llegada y fecha de envío; productos y cantidades; documentos. En el prototipo el asistente ya funciona completo (valida stock y descuenta inventario); la persistencia real llegará con el backend en el Sprint 3.</a:t>
            </a:r>
          </a:p>
          <a:p>
            <a:r>
              <a:t>5) Reportes: filtrar por rango de fechas y mostrar los botones de exportar a PDF y Excel.</a:t>
            </a:r>
          </a:p>
          <a:p>
            <a:r>
              <a:t>Plan B si falla la demo: mostrar capturas de pantalla de los mockups. Tiempo: 2 minutos.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Sprint 3 proponemos: implementar Exportaciones (HU-11, HU-12) y Documentación (HU-14, HU-15), completar Usuarios (HU-05, HU-06) y las mejoras de Clientes, Productos e Inventario (HU-07 a HU-09). En paralelo, ejecutar el plan de pruebas con JUnit 5, Mockito y MockMvc contra MySQL y registrar los resultados. En el Sprint 4: Pagos, Reportes y Dashboard, más HU-10 y HU-13. Quedan cuatro preguntas abiertas para el docente: alcance del MVP, estrategia de despliegue, requisitos de seguridad y normativa de la UE, y cronograma. Cerrar agradeciendo y abriendo preguntas. Tiempo: 45 segundos.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10058400" cy="457200"/>
          </a:xfrm>
          <a:prstGeom prst="rect">
            <a:avLst/>
          </a:prstGeom>
          <a:noFill/>
        </p:spPr>
        <p:txBody>
          <a:bodyPr wrap="square" lIns="45720" rIns="45720" tIns="27432" bIns="27432" anchor="t">
            <a:spAutoFit/>
          </a:bodyPr>
          <a:lstStyle/>
          <a:p>
            <a:pPr algn="l"/>
            <a:r>
              <a:rPr sz="1600" b="1">
                <a:solidFill>
                  <a:srgbClr val="66BB6A"/>
                </a:solidFill>
                <a:latin typeface="Calibri"/>
              </a:rPr>
              <a:t>CALIDAD DE SOFTWARE · SPRINT 2</a:t>
            </a:r>
          </a:p>
        </p:txBody>
      </p:sp>
      <p:sp>
        <p:nvSpPr>
          <p:cNvPr id="4" name="TextBox 3"/>
          <p:cNvSpPr txBox="1"/>
          <p:nvPr/>
        </p:nvSpPr>
        <p:spPr>
          <a:xfrm>
            <a:off x="822960" y="1463040"/>
            <a:ext cx="10515600" cy="1188720"/>
          </a:xfrm>
          <a:prstGeom prst="rect">
            <a:avLst/>
          </a:prstGeom>
          <a:noFill/>
        </p:spPr>
        <p:txBody>
          <a:bodyPr wrap="square" lIns="45720" rIns="45720" tIns="27432" bIns="27432" anchor="t">
            <a:spAutoFit/>
          </a:bodyPr>
          <a:lstStyle/>
          <a:p>
            <a:pPr algn="l"/>
            <a:r>
              <a:rPr sz="6000" b="1">
                <a:solidFill>
                  <a:srgbClr val="F3E9E2"/>
                </a:solidFill>
                <a:latin typeface="Calibri"/>
              </a:rPr>
              <a:t>CoffeeExport Manager</a:t>
            </a:r>
          </a:p>
        </p:txBody>
      </p:sp>
      <p:sp>
        <p:nvSpPr>
          <p:cNvPr id="5" name="TextBox 4"/>
          <p:cNvSpPr txBox="1"/>
          <p:nvPr/>
        </p:nvSpPr>
        <p:spPr>
          <a:xfrm>
            <a:off x="822960" y="2651760"/>
            <a:ext cx="10515600" cy="914400"/>
          </a:xfrm>
          <a:prstGeom prst="rect">
            <a:avLst/>
          </a:prstGeom>
          <a:noFill/>
        </p:spPr>
        <p:txBody>
          <a:bodyPr wrap="square" lIns="45720" rIns="45720" tIns="27432" bIns="27432" anchor="t">
            <a:spAutoFit/>
          </a:bodyPr>
          <a:lstStyle/>
          <a:p>
            <a:pPr algn="l"/>
            <a:r>
              <a:rPr sz="2200" b="0">
                <a:solidFill>
                  <a:srgbClr val="A1887F"/>
                </a:solidFill>
                <a:latin typeface="Calibri"/>
              </a:rPr>
              <a:t>Requerimientos, modelo de datos, historias de usuario y plan de pruebas</a:t>
            </a:r>
          </a:p>
        </p:txBody>
      </p:sp>
      <p:sp>
        <p:nvSpPr>
          <p:cNvPr id="6" name="Rectangle 5"/>
          <p:cNvSpPr/>
          <p:nvPr/>
        </p:nvSpPr>
        <p:spPr>
          <a:xfrm>
            <a:off x="822960" y="3657600"/>
            <a:ext cx="1371600" cy="4572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886200"/>
            <a:ext cx="10058400" cy="457200"/>
          </a:xfrm>
          <a:prstGeom prst="rect">
            <a:avLst/>
          </a:prstGeom>
          <a:noFill/>
        </p:spPr>
        <p:txBody>
          <a:bodyPr wrap="square" lIns="45720" rIns="45720" tIns="27432" bIns="27432" anchor="t">
            <a:spAutoFit/>
          </a:bodyPr>
          <a:lstStyle/>
          <a:p>
            <a:pPr algn="l"/>
            <a:r>
              <a:rPr sz="2000" b="1">
                <a:solidFill>
                  <a:srgbClr val="F3E9E2"/>
                </a:solidFill>
                <a:latin typeface="Calibri"/>
              </a:rPr>
              <a:t>RITECH SAS</a:t>
            </a:r>
          </a:p>
        </p:txBody>
      </p:sp>
      <p:sp>
        <p:nvSpPr>
          <p:cNvPr id="8" name="TextBox 7"/>
          <p:cNvSpPr txBox="1"/>
          <p:nvPr/>
        </p:nvSpPr>
        <p:spPr>
          <a:xfrm>
            <a:off x="822960" y="4389120"/>
            <a:ext cx="10789920" cy="822960"/>
          </a:xfrm>
          <a:prstGeom prst="rect">
            <a:avLst/>
          </a:prstGeom>
          <a:noFill/>
        </p:spPr>
        <p:txBody>
          <a:bodyPr wrap="square" lIns="45720" rIns="45720" tIns="27432" bIns="27432" anchor="t">
            <a:spAutoFit/>
          </a:bodyPr>
          <a:lstStyle/>
          <a:p>
            <a:pPr algn="l"/>
            <a:r>
              <a:rPr sz="1600" b="0">
                <a:solidFill>
                  <a:srgbClr val="BCAAA4"/>
                </a:solidFill>
                <a:latin typeface="Calibri"/>
              </a:rPr>
              <a:t>Brayan Guerrero   ·   Juan Jurado   ·   Nicoll López   ·   Alexander Rodríguez   ·   Mario Zambrano</a:t>
            </a:r>
          </a:p>
        </p:txBody>
      </p:sp>
      <p:sp>
        <p:nvSpPr>
          <p:cNvPr id="9" name="TextBox 8"/>
          <p:cNvSpPr txBox="1"/>
          <p:nvPr/>
        </p:nvSpPr>
        <p:spPr>
          <a:xfrm>
            <a:off x="822960" y="5760720"/>
            <a:ext cx="10058400" cy="365760"/>
          </a:xfrm>
          <a:prstGeom prst="rect">
            <a:avLst/>
          </a:prstGeom>
          <a:noFill/>
        </p:spPr>
        <p:txBody>
          <a:bodyPr wrap="square" lIns="45720" rIns="45720" tIns="27432" bIns="27432" anchor="t">
            <a:spAutoFit/>
          </a:bodyPr>
          <a:lstStyle/>
          <a:p>
            <a:pPr algn="l"/>
            <a:r>
              <a:rPr sz="1400" b="0">
                <a:solidFill>
                  <a:srgbClr val="BCAAA4"/>
                </a:solidFill>
                <a:latin typeface="Calibri"/>
              </a:rPr>
              <a:t>5 de octubre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Estado actual del proyecto</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Scrum · Jira · Confluence · Sprint 1 completado, Sprint 2 en entrega</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2</a:t>
            </a:r>
          </a:p>
        </p:txBody>
      </p:sp>
      <p:sp>
        <p:nvSpPr>
          <p:cNvPr id="7" name="Rounded Rectangle 6"/>
          <p:cNvSpPr/>
          <p:nvPr/>
        </p:nvSpPr>
        <p:spPr>
          <a:xfrm>
            <a:off x="548640" y="1554480"/>
            <a:ext cx="3611880" cy="44805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3611880" cy="73152"/>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3200400" cy="457200"/>
          </a:xfrm>
          <a:prstGeom prst="rect">
            <a:avLst/>
          </a:prstGeom>
          <a:noFill/>
        </p:spPr>
        <p:txBody>
          <a:bodyPr wrap="square" lIns="45720" rIns="45720" tIns="27432" bIns="27432" anchor="t">
            <a:spAutoFit/>
          </a:bodyPr>
          <a:lstStyle/>
          <a:p>
            <a:pPr algn="l"/>
            <a:r>
              <a:rPr sz="2200" b="1">
                <a:solidFill>
                  <a:srgbClr val="66BB6A"/>
                </a:solidFill>
                <a:latin typeface="Calibri"/>
              </a:rPr>
              <a:t>LISTO</a:t>
            </a:r>
          </a:p>
        </p:txBody>
      </p:sp>
      <p:sp>
        <p:nvSpPr>
          <p:cNvPr id="10" name="TextBox 9"/>
          <p:cNvSpPr txBox="1"/>
          <p:nvPr/>
        </p:nvSpPr>
        <p:spPr>
          <a:xfrm>
            <a:off x="777240" y="2468880"/>
            <a:ext cx="3200400" cy="3474720"/>
          </a:xfrm>
          <a:prstGeom prst="rect">
            <a:avLst/>
          </a:prstGeom>
          <a:noFill/>
        </p:spPr>
        <p:txBody>
          <a:bodyPr wrap="square" lIns="45720">
            <a:spAutoFit/>
          </a:bodyPr>
          <a:lstStyle/>
          <a:p>
            <a:pPr>
              <a:spcAft>
                <a:spcPts val="1200"/>
              </a:spcAft>
            </a:pPr>
            <a:r>
              <a:rPr sz="1100">
                <a:solidFill>
                  <a:srgbClr val="66BB6A"/>
                </a:solidFill>
                <a:latin typeface="Calibri"/>
              </a:rPr>
              <a:t>● </a:t>
            </a:r>
            <a:r>
              <a:rPr sz="1600">
                <a:solidFill>
                  <a:srgbClr val="F3E9E2"/>
                </a:solidFill>
                <a:latin typeface="Calibri"/>
              </a:rPr>
              <a:t>Sprint 1: HU-01 a HU-04</a:t>
            </a:r>
          </a:p>
          <a:p>
            <a:pPr>
              <a:spcAft>
                <a:spcPts val="1200"/>
              </a:spcAft>
            </a:pPr>
            <a:r>
              <a:rPr sz="1100">
                <a:solidFill>
                  <a:srgbClr val="66BB6A"/>
                </a:solidFill>
                <a:latin typeface="Calibri"/>
              </a:rPr>
              <a:t>● </a:t>
            </a:r>
            <a:r>
              <a:rPr sz="1600">
                <a:solidFill>
                  <a:srgbClr val="F3E9E2"/>
                </a:solidFill>
                <a:latin typeface="Calibri"/>
              </a:rPr>
              <a:t>Autenticación, Clientes, Productos, Inventario</a:t>
            </a:r>
          </a:p>
          <a:p>
            <a:pPr>
              <a:spcAft>
                <a:spcPts val="1200"/>
              </a:spcAft>
            </a:pPr>
            <a:r>
              <a:rPr sz="1100">
                <a:solidFill>
                  <a:srgbClr val="66BB6A"/>
                </a:solidFill>
                <a:latin typeface="Calibri"/>
              </a:rPr>
              <a:t>● </a:t>
            </a:r>
            <a:r>
              <a:rPr sz="1600">
                <a:solidFill>
                  <a:srgbClr val="F3E9E2"/>
                </a:solidFill>
                <a:latin typeface="Calibri"/>
              </a:rPr>
              <a:t>Prototipo de frontend con las 9 pantallas</a:t>
            </a:r>
          </a:p>
          <a:p>
            <a:pPr>
              <a:spcAft>
                <a:spcPts val="1200"/>
              </a:spcAft>
            </a:pPr>
            <a:r>
              <a:rPr sz="1100">
                <a:solidFill>
                  <a:srgbClr val="66BB6A"/>
                </a:solidFill>
                <a:latin typeface="Calibri"/>
              </a:rPr>
              <a:t>● </a:t>
            </a:r>
            <a:r>
              <a:rPr sz="1600">
                <a:solidFill>
                  <a:srgbClr val="F3E9E2"/>
                </a:solidFill>
                <a:latin typeface="Calibri"/>
              </a:rPr>
              <a:t>Stack definido: Java 21, Spring Boot, MySQL</a:t>
            </a:r>
          </a:p>
        </p:txBody>
      </p:sp>
      <p:sp>
        <p:nvSpPr>
          <p:cNvPr id="11" name="Rounded Rectangle 10"/>
          <p:cNvSpPr/>
          <p:nvPr/>
        </p:nvSpPr>
        <p:spPr>
          <a:xfrm>
            <a:off x="4343400" y="1554480"/>
            <a:ext cx="3611880" cy="44805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554480"/>
            <a:ext cx="361188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783080"/>
            <a:ext cx="3200400" cy="457200"/>
          </a:xfrm>
          <a:prstGeom prst="rect">
            <a:avLst/>
          </a:prstGeom>
          <a:noFill/>
        </p:spPr>
        <p:txBody>
          <a:bodyPr wrap="square" lIns="45720" rIns="45720" tIns="27432" bIns="27432" anchor="t">
            <a:spAutoFit/>
          </a:bodyPr>
          <a:lstStyle/>
          <a:p>
            <a:pPr algn="l"/>
            <a:r>
              <a:rPr sz="2200" b="1">
                <a:solidFill>
                  <a:srgbClr val="FFB74D"/>
                </a:solidFill>
                <a:latin typeface="Calibri"/>
              </a:rPr>
              <a:t>EN PROGRESO</a:t>
            </a:r>
          </a:p>
        </p:txBody>
      </p:sp>
      <p:sp>
        <p:nvSpPr>
          <p:cNvPr id="14" name="TextBox 13"/>
          <p:cNvSpPr txBox="1"/>
          <p:nvPr/>
        </p:nvSpPr>
        <p:spPr>
          <a:xfrm>
            <a:off x="4572000" y="2468880"/>
            <a:ext cx="3200400" cy="3474720"/>
          </a:xfrm>
          <a:prstGeom prst="rect">
            <a:avLst/>
          </a:prstGeom>
          <a:noFill/>
        </p:spPr>
        <p:txBody>
          <a:bodyPr wrap="square" lIns="45720">
            <a:spAutoFit/>
          </a:bodyPr>
          <a:lstStyle/>
          <a:p>
            <a:pPr>
              <a:spcAft>
                <a:spcPts val="1200"/>
              </a:spcAft>
            </a:pPr>
            <a:r>
              <a:rPr sz="1100">
                <a:solidFill>
                  <a:srgbClr val="66BB6A"/>
                </a:solidFill>
                <a:latin typeface="Calibri"/>
              </a:rPr>
              <a:t>● </a:t>
            </a:r>
            <a:r>
              <a:rPr sz="1600">
                <a:solidFill>
                  <a:srgbClr val="F3E9E2"/>
                </a:solidFill>
                <a:latin typeface="Calibri"/>
              </a:rPr>
              <a:t>Documento de requerimientos y UML</a:t>
            </a:r>
          </a:p>
          <a:p>
            <a:pPr>
              <a:spcAft>
                <a:spcPts val="1200"/>
              </a:spcAft>
            </a:pPr>
            <a:r>
              <a:rPr sz="1100">
                <a:solidFill>
                  <a:srgbClr val="66BB6A"/>
                </a:solidFill>
                <a:latin typeface="Calibri"/>
              </a:rPr>
              <a:t>● </a:t>
            </a:r>
            <a:r>
              <a:rPr sz="1600">
                <a:solidFill>
                  <a:srgbClr val="F3E9E2"/>
                </a:solidFill>
                <a:latin typeface="Calibri"/>
              </a:rPr>
              <a:t>Backlog, épicas y 21 historias</a:t>
            </a:r>
          </a:p>
          <a:p>
            <a:pPr>
              <a:spcAft>
                <a:spcPts val="1200"/>
              </a:spcAft>
            </a:pPr>
            <a:r>
              <a:rPr sz="1100">
                <a:solidFill>
                  <a:srgbClr val="66BB6A"/>
                </a:solidFill>
                <a:latin typeface="Calibri"/>
              </a:rPr>
              <a:t>● </a:t>
            </a:r>
            <a:r>
              <a:rPr sz="1600">
                <a:solidFill>
                  <a:srgbClr val="F3E9E2"/>
                </a:solidFill>
                <a:latin typeface="Calibri"/>
              </a:rPr>
              <a:t>Modelo de datos mejorado (13 tablas)</a:t>
            </a:r>
          </a:p>
          <a:p>
            <a:pPr>
              <a:spcAft>
                <a:spcPts val="1200"/>
              </a:spcAft>
            </a:pPr>
            <a:r>
              <a:rPr sz="1100">
                <a:solidFill>
                  <a:srgbClr val="66BB6A"/>
                </a:solidFill>
                <a:latin typeface="Calibri"/>
              </a:rPr>
              <a:t>● </a:t>
            </a:r>
            <a:r>
              <a:rPr sz="1600">
                <a:solidFill>
                  <a:srgbClr val="F3E9E2"/>
                </a:solidFill>
                <a:latin typeface="Calibri"/>
              </a:rPr>
              <a:t>Plan de pruebas: 44 casos diseñados</a:t>
            </a:r>
          </a:p>
        </p:txBody>
      </p:sp>
      <p:sp>
        <p:nvSpPr>
          <p:cNvPr id="15" name="Rounded Rectangle 14"/>
          <p:cNvSpPr/>
          <p:nvPr/>
        </p:nvSpPr>
        <p:spPr>
          <a:xfrm>
            <a:off x="8138160" y="1554480"/>
            <a:ext cx="3611880" cy="44805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554480"/>
            <a:ext cx="3611880" cy="73152"/>
          </a:xfrm>
          <a:prstGeom prst="rect">
            <a:avLst/>
          </a:prstGeom>
          <a:solidFill>
            <a:srgbClr val="A18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783080"/>
            <a:ext cx="3200400" cy="457200"/>
          </a:xfrm>
          <a:prstGeom prst="rect">
            <a:avLst/>
          </a:prstGeom>
          <a:noFill/>
        </p:spPr>
        <p:txBody>
          <a:bodyPr wrap="square" lIns="45720" rIns="45720" tIns="27432" bIns="27432" anchor="t">
            <a:spAutoFit/>
          </a:bodyPr>
          <a:lstStyle/>
          <a:p>
            <a:pPr algn="l"/>
            <a:r>
              <a:rPr sz="2200" b="1">
                <a:solidFill>
                  <a:srgbClr val="A1887F"/>
                </a:solidFill>
                <a:latin typeface="Calibri"/>
              </a:rPr>
              <a:t>SIGUE</a:t>
            </a:r>
          </a:p>
        </p:txBody>
      </p:sp>
      <p:sp>
        <p:nvSpPr>
          <p:cNvPr id="18" name="TextBox 17"/>
          <p:cNvSpPr txBox="1"/>
          <p:nvPr/>
        </p:nvSpPr>
        <p:spPr>
          <a:xfrm>
            <a:off x="8366760" y="2468880"/>
            <a:ext cx="3200400" cy="3474720"/>
          </a:xfrm>
          <a:prstGeom prst="rect">
            <a:avLst/>
          </a:prstGeom>
          <a:noFill/>
        </p:spPr>
        <p:txBody>
          <a:bodyPr wrap="square" lIns="45720">
            <a:spAutoFit/>
          </a:bodyPr>
          <a:lstStyle/>
          <a:p>
            <a:pPr>
              <a:spcAft>
                <a:spcPts val="1200"/>
              </a:spcAft>
            </a:pPr>
            <a:r>
              <a:rPr sz="1100">
                <a:solidFill>
                  <a:srgbClr val="66BB6A"/>
                </a:solidFill>
                <a:latin typeface="Calibri"/>
              </a:rPr>
              <a:t>● </a:t>
            </a:r>
            <a:r>
              <a:rPr sz="1600">
                <a:solidFill>
                  <a:srgbClr val="F3E9E2"/>
                </a:solidFill>
                <a:latin typeface="Calibri"/>
              </a:rPr>
              <a:t>Sprint 3: Exportaciones y Documentación</a:t>
            </a:r>
          </a:p>
          <a:p>
            <a:pPr>
              <a:spcAft>
                <a:spcPts val="1200"/>
              </a:spcAft>
            </a:pPr>
            <a:r>
              <a:rPr sz="1100">
                <a:solidFill>
                  <a:srgbClr val="66BB6A"/>
                </a:solidFill>
                <a:latin typeface="Calibri"/>
              </a:rPr>
              <a:t>● </a:t>
            </a:r>
            <a:r>
              <a:rPr sz="1600">
                <a:solidFill>
                  <a:srgbClr val="F3E9E2"/>
                </a:solidFill>
                <a:latin typeface="Calibri"/>
              </a:rPr>
              <a:t>Completar gestión de usuarios y roles</a:t>
            </a:r>
          </a:p>
          <a:p>
            <a:pPr>
              <a:spcAft>
                <a:spcPts val="1200"/>
              </a:spcAft>
            </a:pPr>
            <a:r>
              <a:rPr sz="1100">
                <a:solidFill>
                  <a:srgbClr val="66BB6A"/>
                </a:solidFill>
                <a:latin typeface="Calibri"/>
              </a:rPr>
              <a:t>● </a:t>
            </a:r>
            <a:r>
              <a:rPr sz="1600">
                <a:solidFill>
                  <a:srgbClr val="F3E9E2"/>
                </a:solidFill>
                <a:latin typeface="Calibri"/>
              </a:rPr>
              <a:t>Sprint 4: Pagos, Reportes y Dashboard</a:t>
            </a:r>
          </a:p>
          <a:p>
            <a:pPr>
              <a:spcAft>
                <a:spcPts val="1200"/>
              </a:spcAft>
            </a:pPr>
            <a:r>
              <a:rPr sz="1100">
                <a:solidFill>
                  <a:srgbClr val="66BB6A"/>
                </a:solidFill>
                <a:latin typeface="Calibri"/>
              </a:rPr>
              <a:t>● </a:t>
            </a:r>
            <a:r>
              <a:rPr sz="1600">
                <a:solidFill>
                  <a:srgbClr val="F3E9E2"/>
                </a:solidFill>
                <a:latin typeface="Calibri"/>
              </a:rPr>
              <a:t>Ejecutar pruebas y registrar resultados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Requerimientos clave</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31 RF · 13 RNF · 9 RR</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3</a:t>
            </a:r>
          </a:p>
        </p:txBody>
      </p:sp>
      <p:sp>
        <p:nvSpPr>
          <p:cNvPr id="7" name="Rounded Rectangle 6"/>
          <p:cNvSpPr/>
          <p:nvPr/>
        </p:nvSpPr>
        <p:spPr>
          <a:xfrm>
            <a:off x="548640" y="1463040"/>
            <a:ext cx="17373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1737360" cy="822960"/>
          </a:xfrm>
          <a:prstGeom prst="rect">
            <a:avLst/>
          </a:prstGeom>
          <a:noFill/>
        </p:spPr>
        <p:txBody>
          <a:bodyPr wrap="square" lIns="45720" rIns="45720" tIns="27432" bIns="27432" anchor="t">
            <a:spAutoFit/>
          </a:bodyPr>
          <a:lstStyle/>
          <a:p>
            <a:pPr algn="ctr"/>
            <a:r>
              <a:rPr sz="4400" b="1">
                <a:solidFill>
                  <a:srgbClr val="66BB6A"/>
                </a:solidFill>
                <a:latin typeface="Calibri"/>
              </a:rPr>
              <a:t>31</a:t>
            </a:r>
          </a:p>
        </p:txBody>
      </p:sp>
      <p:sp>
        <p:nvSpPr>
          <p:cNvPr id="9" name="TextBox 8"/>
          <p:cNvSpPr txBox="1"/>
          <p:nvPr/>
        </p:nvSpPr>
        <p:spPr>
          <a:xfrm>
            <a:off x="548640" y="2331720"/>
            <a:ext cx="1737360" cy="457200"/>
          </a:xfrm>
          <a:prstGeom prst="rect">
            <a:avLst/>
          </a:prstGeom>
          <a:noFill/>
        </p:spPr>
        <p:txBody>
          <a:bodyPr wrap="square" lIns="45720" rIns="45720" tIns="27432" bIns="27432" anchor="t">
            <a:spAutoFit/>
          </a:bodyPr>
          <a:lstStyle/>
          <a:p>
            <a:pPr algn="ctr"/>
            <a:r>
              <a:rPr sz="1200" b="0">
                <a:solidFill>
                  <a:srgbClr val="BCAAA4"/>
                </a:solidFill>
                <a:latin typeface="Calibri"/>
              </a:rPr>
              <a:t>Funcionales (RF)</a:t>
            </a:r>
          </a:p>
        </p:txBody>
      </p:sp>
      <p:sp>
        <p:nvSpPr>
          <p:cNvPr id="10" name="Rounded Rectangle 9"/>
          <p:cNvSpPr/>
          <p:nvPr/>
        </p:nvSpPr>
        <p:spPr>
          <a:xfrm>
            <a:off x="2423160" y="1463040"/>
            <a:ext cx="17373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60" y="1508760"/>
            <a:ext cx="1737360" cy="822960"/>
          </a:xfrm>
          <a:prstGeom prst="rect">
            <a:avLst/>
          </a:prstGeom>
          <a:noFill/>
        </p:spPr>
        <p:txBody>
          <a:bodyPr wrap="square" lIns="45720" rIns="45720" tIns="27432" bIns="27432" anchor="t">
            <a:spAutoFit/>
          </a:bodyPr>
          <a:lstStyle/>
          <a:p>
            <a:pPr algn="ctr"/>
            <a:r>
              <a:rPr sz="4400" b="1">
                <a:solidFill>
                  <a:srgbClr val="A1887F"/>
                </a:solidFill>
                <a:latin typeface="Calibri"/>
              </a:rPr>
              <a:t>13</a:t>
            </a:r>
          </a:p>
        </p:txBody>
      </p:sp>
      <p:sp>
        <p:nvSpPr>
          <p:cNvPr id="12" name="TextBox 11"/>
          <p:cNvSpPr txBox="1"/>
          <p:nvPr/>
        </p:nvSpPr>
        <p:spPr>
          <a:xfrm>
            <a:off x="2423160" y="2331720"/>
            <a:ext cx="1737360" cy="457200"/>
          </a:xfrm>
          <a:prstGeom prst="rect">
            <a:avLst/>
          </a:prstGeom>
          <a:noFill/>
        </p:spPr>
        <p:txBody>
          <a:bodyPr wrap="square" lIns="45720" rIns="45720" tIns="27432" bIns="27432" anchor="t">
            <a:spAutoFit/>
          </a:bodyPr>
          <a:lstStyle/>
          <a:p>
            <a:pPr algn="ctr"/>
            <a:r>
              <a:rPr sz="1200" b="0">
                <a:solidFill>
                  <a:srgbClr val="BCAAA4"/>
                </a:solidFill>
                <a:latin typeface="Calibri"/>
              </a:rPr>
              <a:t>No funcionales (RNF)</a:t>
            </a:r>
          </a:p>
        </p:txBody>
      </p:sp>
      <p:sp>
        <p:nvSpPr>
          <p:cNvPr id="13" name="Rounded Rectangle 12"/>
          <p:cNvSpPr/>
          <p:nvPr/>
        </p:nvSpPr>
        <p:spPr>
          <a:xfrm>
            <a:off x="4297679" y="1463040"/>
            <a:ext cx="17373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9" y="1508760"/>
            <a:ext cx="1737360" cy="822960"/>
          </a:xfrm>
          <a:prstGeom prst="rect">
            <a:avLst/>
          </a:prstGeom>
          <a:noFill/>
        </p:spPr>
        <p:txBody>
          <a:bodyPr wrap="square" lIns="45720" rIns="45720" tIns="27432" bIns="27432" anchor="t">
            <a:spAutoFit/>
          </a:bodyPr>
          <a:lstStyle/>
          <a:p>
            <a:pPr algn="ctr"/>
            <a:r>
              <a:rPr sz="4400" b="1">
                <a:solidFill>
                  <a:srgbClr val="FFB74D"/>
                </a:solidFill>
                <a:latin typeface="Calibri"/>
              </a:rPr>
              <a:t>9</a:t>
            </a:r>
          </a:p>
        </p:txBody>
      </p:sp>
      <p:sp>
        <p:nvSpPr>
          <p:cNvPr id="15" name="TextBox 14"/>
          <p:cNvSpPr txBox="1"/>
          <p:nvPr/>
        </p:nvSpPr>
        <p:spPr>
          <a:xfrm>
            <a:off x="4297679" y="2331720"/>
            <a:ext cx="1737360" cy="457200"/>
          </a:xfrm>
          <a:prstGeom prst="rect">
            <a:avLst/>
          </a:prstGeom>
          <a:noFill/>
        </p:spPr>
        <p:txBody>
          <a:bodyPr wrap="square" lIns="45720" rIns="45720" tIns="27432" bIns="27432" anchor="t">
            <a:spAutoFit/>
          </a:bodyPr>
          <a:lstStyle/>
          <a:p>
            <a:pPr algn="ctr"/>
            <a:r>
              <a:rPr sz="1200" b="0">
                <a:solidFill>
                  <a:srgbClr val="BCAAA4"/>
                </a:solidFill>
                <a:latin typeface="Calibri"/>
              </a:rPr>
              <a:t>Restricción (RR)</a:t>
            </a:r>
          </a:p>
        </p:txBody>
      </p:sp>
      <p:sp>
        <p:nvSpPr>
          <p:cNvPr id="16" name="Rounded Rectangle 15"/>
          <p:cNvSpPr/>
          <p:nvPr/>
        </p:nvSpPr>
        <p:spPr>
          <a:xfrm>
            <a:off x="548640" y="3063240"/>
            <a:ext cx="5532120" cy="315468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154680"/>
            <a:ext cx="5212080" cy="365760"/>
          </a:xfrm>
          <a:prstGeom prst="rect">
            <a:avLst/>
          </a:prstGeom>
          <a:noFill/>
        </p:spPr>
        <p:txBody>
          <a:bodyPr wrap="square" lIns="45720" rIns="45720" tIns="27432" bIns="27432" anchor="t">
            <a:spAutoFit/>
          </a:bodyPr>
          <a:lstStyle/>
          <a:p>
            <a:pPr algn="l"/>
            <a:r>
              <a:rPr sz="1600" b="1">
                <a:solidFill>
                  <a:srgbClr val="66BB6A"/>
                </a:solidFill>
                <a:latin typeface="Calibri"/>
              </a:rPr>
              <a:t>Funcionales (ejemplos)</a:t>
            </a:r>
          </a:p>
        </p:txBody>
      </p:sp>
      <p:sp>
        <p:nvSpPr>
          <p:cNvPr id="18" name="TextBox 17"/>
          <p:cNvSpPr txBox="1"/>
          <p:nvPr/>
        </p:nvSpPr>
        <p:spPr>
          <a:xfrm>
            <a:off x="731520" y="3566160"/>
            <a:ext cx="5212080" cy="2560320"/>
          </a:xfrm>
          <a:prstGeom prst="rect">
            <a:avLst/>
          </a:prstGeom>
          <a:noFill/>
        </p:spPr>
        <p:txBody>
          <a:bodyPr wrap="square" lIns="45720">
            <a:spAutoFit/>
          </a:bodyPr>
          <a:lstStyle/>
          <a:p>
            <a:pPr>
              <a:spcAft>
                <a:spcPts val="500"/>
              </a:spcAft>
            </a:pPr>
            <a:r>
              <a:rPr sz="900">
                <a:solidFill>
                  <a:srgbClr val="66BB6A"/>
                </a:solidFill>
                <a:latin typeface="Calibri"/>
              </a:rPr>
              <a:t>● </a:t>
            </a:r>
            <a:r>
              <a:rPr b="1" sz="1400">
                <a:solidFill>
                  <a:srgbClr val="F3E9E2"/>
                </a:solidFill>
                <a:latin typeface="Calibri"/>
              </a:rPr>
              <a:t>RF-01 </a:t>
            </a:r>
            <a:r>
              <a:rPr sz="1400">
                <a:solidFill>
                  <a:srgbClr val="BCAAA4"/>
                </a:solidFill>
                <a:latin typeface="Calibri"/>
              </a:rPr>
              <a:t>Inicio de sesión con correo y contraseña</a:t>
            </a:r>
          </a:p>
          <a:p>
            <a:pPr>
              <a:spcAft>
                <a:spcPts val="500"/>
              </a:spcAft>
            </a:pPr>
            <a:r>
              <a:rPr sz="900">
                <a:solidFill>
                  <a:srgbClr val="66BB6A"/>
                </a:solidFill>
                <a:latin typeface="Calibri"/>
              </a:rPr>
              <a:t>● </a:t>
            </a:r>
            <a:r>
              <a:rPr b="1" sz="1400">
                <a:solidFill>
                  <a:srgbClr val="F3E9E2"/>
                </a:solidFill>
                <a:latin typeface="Calibri"/>
              </a:rPr>
              <a:t>RF-05 </a:t>
            </a:r>
            <a:r>
              <a:rPr sz="1400">
                <a:solidFill>
                  <a:srgbClr val="BCAAA4"/>
                </a:solidFill>
                <a:latin typeface="Calibri"/>
              </a:rPr>
              <a:t>Registro de clientes de la UE</a:t>
            </a:r>
          </a:p>
          <a:p>
            <a:pPr>
              <a:spcAft>
                <a:spcPts val="500"/>
              </a:spcAft>
            </a:pPr>
            <a:r>
              <a:rPr sz="900">
                <a:solidFill>
                  <a:srgbClr val="66BB6A"/>
                </a:solidFill>
                <a:latin typeface="Calibri"/>
              </a:rPr>
              <a:t>● </a:t>
            </a:r>
            <a:r>
              <a:rPr b="1" sz="1400">
                <a:solidFill>
                  <a:srgbClr val="F3E9E2"/>
                </a:solidFill>
                <a:latin typeface="Calibri"/>
              </a:rPr>
              <a:t>RF-16 </a:t>
            </a:r>
            <a:r>
              <a:rPr sz="1400">
                <a:solidFill>
                  <a:srgbClr val="BCAAA4"/>
                </a:solidFill>
                <a:latin typeface="Calibri"/>
              </a:rPr>
              <a:t>Exportación en asistente de 4 pasos</a:t>
            </a:r>
          </a:p>
          <a:p>
            <a:pPr>
              <a:spcAft>
                <a:spcPts val="500"/>
              </a:spcAft>
            </a:pPr>
            <a:r>
              <a:rPr sz="900">
                <a:solidFill>
                  <a:srgbClr val="66BB6A"/>
                </a:solidFill>
                <a:latin typeface="Calibri"/>
              </a:rPr>
              <a:t>● </a:t>
            </a:r>
            <a:r>
              <a:rPr b="1" sz="1400">
                <a:solidFill>
                  <a:srgbClr val="F3E9E2"/>
                </a:solidFill>
                <a:latin typeface="Calibri"/>
              </a:rPr>
              <a:t>RF-20 </a:t>
            </a:r>
            <a:r>
              <a:rPr sz="1400">
                <a:solidFill>
                  <a:srgbClr val="BCAAA4"/>
                </a:solidFill>
                <a:latin typeface="Calibri"/>
              </a:rPr>
              <a:t>Adjuntar certificados y documentos aduaneros</a:t>
            </a:r>
          </a:p>
          <a:p>
            <a:pPr>
              <a:spcAft>
                <a:spcPts val="500"/>
              </a:spcAft>
            </a:pPr>
            <a:r>
              <a:rPr sz="900">
                <a:solidFill>
                  <a:srgbClr val="66BB6A"/>
                </a:solidFill>
                <a:latin typeface="Calibri"/>
              </a:rPr>
              <a:t>● </a:t>
            </a:r>
            <a:r>
              <a:rPr b="1" sz="1400">
                <a:solidFill>
                  <a:srgbClr val="F3E9E2"/>
                </a:solidFill>
                <a:latin typeface="Calibri"/>
              </a:rPr>
              <a:t>RF-29 </a:t>
            </a:r>
            <a:r>
              <a:rPr sz="1400">
                <a:solidFill>
                  <a:srgbClr val="BCAAA4"/>
                </a:solidFill>
                <a:latin typeface="Calibri"/>
              </a:rPr>
              <a:t>KPIs del dashboard</a:t>
            </a:r>
          </a:p>
        </p:txBody>
      </p:sp>
      <p:sp>
        <p:nvSpPr>
          <p:cNvPr id="19" name="Rounded Rectangle 18"/>
          <p:cNvSpPr/>
          <p:nvPr/>
        </p:nvSpPr>
        <p:spPr>
          <a:xfrm>
            <a:off x="6263640" y="1463040"/>
            <a:ext cx="5394960" cy="233172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554480"/>
            <a:ext cx="5029200" cy="365760"/>
          </a:xfrm>
          <a:prstGeom prst="rect">
            <a:avLst/>
          </a:prstGeom>
          <a:noFill/>
        </p:spPr>
        <p:txBody>
          <a:bodyPr wrap="square" lIns="45720" rIns="45720" tIns="27432" bIns="27432" anchor="t">
            <a:spAutoFit/>
          </a:bodyPr>
          <a:lstStyle/>
          <a:p>
            <a:pPr algn="l"/>
            <a:r>
              <a:rPr sz="1600" b="1">
                <a:solidFill>
                  <a:srgbClr val="66BB6A"/>
                </a:solidFill>
                <a:latin typeface="Calibri"/>
              </a:rPr>
              <a:t>No funcionales</a:t>
            </a:r>
          </a:p>
        </p:txBody>
      </p:sp>
      <p:sp>
        <p:nvSpPr>
          <p:cNvPr id="21" name="TextBox 20"/>
          <p:cNvSpPr txBox="1"/>
          <p:nvPr/>
        </p:nvSpPr>
        <p:spPr>
          <a:xfrm>
            <a:off x="6446520" y="1965960"/>
            <a:ext cx="5029200" cy="1828800"/>
          </a:xfrm>
          <a:prstGeom prst="rect">
            <a:avLst/>
          </a:prstGeom>
          <a:noFill/>
        </p:spPr>
        <p:txBody>
          <a:bodyPr wrap="square" lIns="45720">
            <a:spAutoFit/>
          </a:bodyPr>
          <a:lstStyle/>
          <a:p>
            <a:pPr>
              <a:spcAft>
                <a:spcPts val="400"/>
              </a:spcAft>
            </a:pPr>
            <a:r>
              <a:rPr sz="900">
                <a:solidFill>
                  <a:srgbClr val="66BB6A"/>
                </a:solidFill>
                <a:latin typeface="Calibri"/>
              </a:rPr>
              <a:t>● </a:t>
            </a:r>
            <a:r>
              <a:rPr b="1" sz="1400">
                <a:solidFill>
                  <a:srgbClr val="F3E9E2"/>
                </a:solidFill>
                <a:latin typeface="Calibri"/>
              </a:rPr>
              <a:t>RNF-01 </a:t>
            </a:r>
            <a:r>
              <a:rPr sz="1400">
                <a:solidFill>
                  <a:srgbClr val="BCAAA4"/>
                </a:solidFill>
                <a:latin typeface="Calibri"/>
              </a:rPr>
              <a:t>Contraseñas con BCrypt</a:t>
            </a:r>
          </a:p>
          <a:p>
            <a:pPr>
              <a:spcAft>
                <a:spcPts val="400"/>
              </a:spcAft>
            </a:pPr>
            <a:r>
              <a:rPr sz="900">
                <a:solidFill>
                  <a:srgbClr val="66BB6A"/>
                </a:solidFill>
                <a:latin typeface="Calibri"/>
              </a:rPr>
              <a:t>● </a:t>
            </a:r>
            <a:r>
              <a:rPr b="1" sz="1400">
                <a:solidFill>
                  <a:srgbClr val="F3E9E2"/>
                </a:solidFill>
                <a:latin typeface="Calibri"/>
              </a:rPr>
              <a:t>RNF-02/03 </a:t>
            </a:r>
            <a:r>
              <a:rPr sz="1400">
                <a:solidFill>
                  <a:srgbClr val="BCAAA4"/>
                </a:solidFill>
                <a:latin typeface="Calibri"/>
              </a:rPr>
              <a:t>Sesiones y control por rol</a:t>
            </a:r>
          </a:p>
          <a:p>
            <a:pPr>
              <a:spcAft>
                <a:spcPts val="400"/>
              </a:spcAft>
            </a:pPr>
            <a:r>
              <a:rPr sz="900">
                <a:solidFill>
                  <a:srgbClr val="66BB6A"/>
                </a:solidFill>
                <a:latin typeface="Calibri"/>
              </a:rPr>
              <a:t>● </a:t>
            </a:r>
            <a:r>
              <a:rPr b="1" sz="1400">
                <a:solidFill>
                  <a:srgbClr val="F3E9E2"/>
                </a:solidFill>
                <a:latin typeface="Calibri"/>
              </a:rPr>
              <a:t>RNF-04 </a:t>
            </a:r>
            <a:r>
              <a:rPr sz="1400">
                <a:solidFill>
                  <a:srgbClr val="BCAAA4"/>
                </a:solidFill>
                <a:latin typeface="Calibri"/>
              </a:rPr>
              <a:t>Prevención de inyección SQL</a:t>
            </a:r>
          </a:p>
          <a:p>
            <a:pPr>
              <a:spcAft>
                <a:spcPts val="400"/>
              </a:spcAft>
            </a:pPr>
            <a:r>
              <a:rPr sz="900">
                <a:solidFill>
                  <a:srgbClr val="66BB6A"/>
                </a:solidFill>
                <a:latin typeface="Calibri"/>
              </a:rPr>
              <a:t>● </a:t>
            </a:r>
            <a:r>
              <a:rPr b="1" sz="1400">
                <a:solidFill>
                  <a:srgbClr val="F3E9E2"/>
                </a:solidFill>
                <a:latin typeface="Calibri"/>
              </a:rPr>
              <a:t>RNF-12 </a:t>
            </a:r>
            <a:r>
              <a:rPr sz="1400">
                <a:solidFill>
                  <a:srgbClr val="BCAAA4"/>
                </a:solidFill>
                <a:latin typeface="Calibri"/>
              </a:rPr>
              <a:t>Interfaz responsive</a:t>
            </a:r>
          </a:p>
        </p:txBody>
      </p:sp>
      <p:sp>
        <p:nvSpPr>
          <p:cNvPr id="22" name="Rounded Rectangle 21"/>
          <p:cNvSpPr/>
          <p:nvPr/>
        </p:nvSpPr>
        <p:spPr>
          <a:xfrm>
            <a:off x="6263640" y="3931920"/>
            <a:ext cx="5394960" cy="22860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023360"/>
            <a:ext cx="5029200" cy="365760"/>
          </a:xfrm>
          <a:prstGeom prst="rect">
            <a:avLst/>
          </a:prstGeom>
          <a:noFill/>
        </p:spPr>
        <p:txBody>
          <a:bodyPr wrap="square" lIns="45720" rIns="45720" tIns="27432" bIns="27432" anchor="t">
            <a:spAutoFit/>
          </a:bodyPr>
          <a:lstStyle/>
          <a:p>
            <a:pPr algn="l"/>
            <a:r>
              <a:rPr sz="1600" b="1">
                <a:solidFill>
                  <a:srgbClr val="66BB6A"/>
                </a:solidFill>
                <a:latin typeface="Calibri"/>
              </a:rPr>
              <a:t>Restricciones</a:t>
            </a:r>
          </a:p>
        </p:txBody>
      </p:sp>
      <p:sp>
        <p:nvSpPr>
          <p:cNvPr id="24" name="TextBox 23"/>
          <p:cNvSpPr txBox="1"/>
          <p:nvPr/>
        </p:nvSpPr>
        <p:spPr>
          <a:xfrm>
            <a:off x="6446520" y="4434840"/>
            <a:ext cx="5029200" cy="1737360"/>
          </a:xfrm>
          <a:prstGeom prst="rect">
            <a:avLst/>
          </a:prstGeom>
          <a:noFill/>
        </p:spPr>
        <p:txBody>
          <a:bodyPr wrap="square" lIns="45720">
            <a:spAutoFit/>
          </a:bodyPr>
          <a:lstStyle/>
          <a:p>
            <a:pPr>
              <a:spcAft>
                <a:spcPts val="400"/>
              </a:spcAft>
            </a:pPr>
            <a:r>
              <a:rPr sz="900">
                <a:solidFill>
                  <a:srgbClr val="66BB6A"/>
                </a:solidFill>
                <a:latin typeface="Calibri"/>
              </a:rPr>
              <a:t>● </a:t>
            </a:r>
            <a:r>
              <a:rPr b="1" sz="1400">
                <a:solidFill>
                  <a:srgbClr val="F3E9E2"/>
                </a:solidFill>
                <a:latin typeface="Calibri"/>
              </a:rPr>
              <a:t>RR-01/02 </a:t>
            </a:r>
            <a:r>
              <a:rPr sz="1400">
                <a:solidFill>
                  <a:srgbClr val="BCAAA4"/>
                </a:solidFill>
                <a:latin typeface="Calibri"/>
              </a:rPr>
              <a:t>Java 21, Spring Boot, MySQL</a:t>
            </a:r>
          </a:p>
          <a:p>
            <a:pPr>
              <a:spcAft>
                <a:spcPts val="400"/>
              </a:spcAft>
            </a:pPr>
            <a:r>
              <a:rPr sz="900">
                <a:solidFill>
                  <a:srgbClr val="66BB6A"/>
                </a:solidFill>
                <a:latin typeface="Calibri"/>
              </a:rPr>
              <a:t>● </a:t>
            </a:r>
            <a:r>
              <a:rPr b="1" sz="1400">
                <a:solidFill>
                  <a:srgbClr val="F3E9E2"/>
                </a:solidFill>
                <a:latin typeface="Calibri"/>
              </a:rPr>
              <a:t>RR-05 </a:t>
            </a:r>
            <a:r>
              <a:rPr sz="1400">
                <a:solidFill>
                  <a:srgbClr val="BCAAA4"/>
                </a:solidFill>
                <a:latin typeface="Calibri"/>
              </a:rPr>
              <a:t>GDPR para clientes europeos</a:t>
            </a:r>
          </a:p>
          <a:p>
            <a:pPr>
              <a:spcAft>
                <a:spcPts val="400"/>
              </a:spcAft>
            </a:pPr>
            <a:r>
              <a:rPr sz="900">
                <a:solidFill>
                  <a:srgbClr val="66BB6A"/>
                </a:solidFill>
                <a:latin typeface="Calibri"/>
              </a:rPr>
              <a:t>● </a:t>
            </a:r>
            <a:r>
              <a:rPr b="1" sz="1400">
                <a:solidFill>
                  <a:srgbClr val="F3E9E2"/>
                </a:solidFill>
                <a:latin typeface="Calibri"/>
              </a:rPr>
              <a:t>RR-06 </a:t>
            </a:r>
            <a:r>
              <a:rPr sz="1400">
                <a:solidFill>
                  <a:srgbClr val="BCAAA4"/>
                </a:solidFill>
                <a:latin typeface="Calibri"/>
              </a:rPr>
              <a:t>Certificados de origen y fitosanitarios</a:t>
            </a:r>
          </a:p>
          <a:p>
            <a:pPr>
              <a:spcAft>
                <a:spcPts val="400"/>
              </a:spcAft>
            </a:pPr>
            <a:r>
              <a:rPr sz="900">
                <a:solidFill>
                  <a:srgbClr val="66BB6A"/>
                </a:solidFill>
                <a:latin typeface="Calibri"/>
              </a:rPr>
              <a:t>● </a:t>
            </a:r>
            <a:r>
              <a:rPr b="1" sz="1400">
                <a:solidFill>
                  <a:srgbClr val="F3E9E2"/>
                </a:solidFill>
                <a:latin typeface="Calibri"/>
              </a:rPr>
              <a:t>RR-07 </a:t>
            </a:r>
            <a:r>
              <a:rPr sz="1400">
                <a:solidFill>
                  <a:srgbClr val="BCAAA4"/>
                </a:solidFill>
                <a:latin typeface="Calibri"/>
              </a:rPr>
              <a:t>Moneda USD y EUR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Diagrama de casos de uso</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13 casos de uso · 5 actores internos + cliente internacional (opcional)</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4</a:t>
            </a:r>
          </a:p>
        </p:txBody>
      </p:sp>
      <p:sp>
        <p:nvSpPr>
          <p:cNvPr id="7" name="Rounded Rectangle 6"/>
          <p:cNvSpPr/>
          <p:nvPr/>
        </p:nvSpPr>
        <p:spPr>
          <a:xfrm>
            <a:off x="566928" y="1389888"/>
            <a:ext cx="3472434" cy="2889504"/>
          </a:xfrm>
          <a:prstGeom prst="roundRect">
            <a:avLst>
              <a:gd name="adj" fmla="val 6000"/>
            </a:avLst>
          </a:prstGeom>
          <a:solidFill>
            <a:srgbClr val="15110F"/>
          </a:solidFill>
          <a:ln w="12700">
            <a:solidFill>
              <a:srgbClr val="2C2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c_a_dark.png"/>
          <p:cNvPicPr>
            <a:picLocks noChangeAspect="1"/>
          </p:cNvPicPr>
          <p:nvPr/>
        </p:nvPicPr>
        <p:blipFill>
          <a:blip r:embed="rId3"/>
          <a:stretch>
            <a:fillRect/>
          </a:stretch>
        </p:blipFill>
        <p:spPr>
          <a:xfrm>
            <a:off x="640080" y="1463040"/>
            <a:ext cx="3326130" cy="2743200"/>
          </a:xfrm>
          <a:prstGeom prst="rect">
            <a:avLst/>
          </a:prstGeom>
        </p:spPr>
      </p:pic>
      <p:sp>
        <p:nvSpPr>
          <p:cNvPr id="9" name="Rounded Rectangle 8"/>
          <p:cNvSpPr/>
          <p:nvPr/>
        </p:nvSpPr>
        <p:spPr>
          <a:xfrm>
            <a:off x="4167378" y="1389888"/>
            <a:ext cx="2968928" cy="2889504"/>
          </a:xfrm>
          <a:prstGeom prst="roundRect">
            <a:avLst>
              <a:gd name="adj" fmla="val 6000"/>
            </a:avLst>
          </a:prstGeom>
          <a:solidFill>
            <a:srgbClr val="15110F"/>
          </a:solidFill>
          <a:ln w="12700">
            <a:solidFill>
              <a:srgbClr val="2C2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c_c_dark.png"/>
          <p:cNvPicPr>
            <a:picLocks noChangeAspect="1"/>
          </p:cNvPicPr>
          <p:nvPr/>
        </p:nvPicPr>
        <p:blipFill>
          <a:blip r:embed="rId4"/>
          <a:stretch>
            <a:fillRect/>
          </a:stretch>
        </p:blipFill>
        <p:spPr>
          <a:xfrm>
            <a:off x="4240530" y="1463040"/>
            <a:ext cx="2822624" cy="2743200"/>
          </a:xfrm>
          <a:prstGeom prst="rect">
            <a:avLst/>
          </a:prstGeom>
        </p:spPr>
      </p:pic>
      <p:sp>
        <p:nvSpPr>
          <p:cNvPr id="11" name="Rounded Rectangle 10"/>
          <p:cNvSpPr/>
          <p:nvPr/>
        </p:nvSpPr>
        <p:spPr>
          <a:xfrm>
            <a:off x="566928" y="4361688"/>
            <a:ext cx="4434268" cy="2020824"/>
          </a:xfrm>
          <a:prstGeom prst="roundRect">
            <a:avLst>
              <a:gd name="adj" fmla="val 6000"/>
            </a:avLst>
          </a:prstGeom>
          <a:solidFill>
            <a:srgbClr val="15110F"/>
          </a:solidFill>
          <a:ln w="12700">
            <a:solidFill>
              <a:srgbClr val="2C2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c_b_dark.png"/>
          <p:cNvPicPr>
            <a:picLocks noChangeAspect="1"/>
          </p:cNvPicPr>
          <p:nvPr/>
        </p:nvPicPr>
        <p:blipFill>
          <a:blip r:embed="rId5"/>
          <a:stretch>
            <a:fillRect/>
          </a:stretch>
        </p:blipFill>
        <p:spPr>
          <a:xfrm>
            <a:off x="640080" y="4434840"/>
            <a:ext cx="4287964" cy="1874519"/>
          </a:xfrm>
          <a:prstGeom prst="rect">
            <a:avLst/>
          </a:prstGeom>
        </p:spPr>
      </p:pic>
      <p:sp>
        <p:nvSpPr>
          <p:cNvPr id="13" name="Rounded Rectangle 12"/>
          <p:cNvSpPr/>
          <p:nvPr/>
        </p:nvSpPr>
        <p:spPr>
          <a:xfrm>
            <a:off x="7589520" y="1371600"/>
            <a:ext cx="4069080" cy="489204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63040"/>
            <a:ext cx="3749039" cy="365760"/>
          </a:xfrm>
          <a:prstGeom prst="rect">
            <a:avLst/>
          </a:prstGeom>
          <a:noFill/>
        </p:spPr>
        <p:txBody>
          <a:bodyPr wrap="square" lIns="45720" rIns="45720" tIns="27432" bIns="27432" anchor="t">
            <a:spAutoFit/>
          </a:bodyPr>
          <a:lstStyle/>
          <a:p>
            <a:pPr algn="l"/>
            <a:r>
              <a:rPr sz="1600" b="1">
                <a:solidFill>
                  <a:srgbClr val="66BB6A"/>
                </a:solidFill>
                <a:latin typeface="Calibri"/>
              </a:rPr>
              <a:t>Casos de uso</a:t>
            </a:r>
          </a:p>
        </p:txBody>
      </p:sp>
      <p:sp>
        <p:nvSpPr>
          <p:cNvPr id="15" name="TextBox 14"/>
          <p:cNvSpPr txBox="1"/>
          <p:nvPr/>
        </p:nvSpPr>
        <p:spPr>
          <a:xfrm>
            <a:off x="7772400" y="1874519"/>
            <a:ext cx="3749039" cy="4297680"/>
          </a:xfrm>
          <a:prstGeom prst="rect">
            <a:avLst/>
          </a:prstGeom>
          <a:noFill/>
        </p:spPr>
        <p:txBody>
          <a:bodyPr wrap="square" lIns="45720">
            <a:spAutoFit/>
          </a:bodyPr>
          <a:lstStyle/>
          <a:p>
            <a:pPr>
              <a:spcAft>
                <a:spcPts val="200"/>
              </a:spcAft>
            </a:pPr>
            <a:r>
              <a:rPr sz="800">
                <a:solidFill>
                  <a:srgbClr val="66BB6A"/>
                </a:solidFill>
                <a:latin typeface="Calibri"/>
              </a:rPr>
              <a:t>● </a:t>
            </a:r>
            <a:r>
              <a:rPr b="1" sz="1200">
                <a:solidFill>
                  <a:srgbClr val="F3E9E2"/>
                </a:solidFill>
                <a:latin typeface="Calibri"/>
              </a:rPr>
              <a:t>UC-01 </a:t>
            </a:r>
            <a:r>
              <a:rPr sz="1200">
                <a:solidFill>
                  <a:srgbClr val="BCAAA4"/>
                </a:solidFill>
                <a:latin typeface="Calibri"/>
              </a:rPr>
              <a:t>Iniciar sesión</a:t>
            </a:r>
          </a:p>
          <a:p>
            <a:pPr>
              <a:spcAft>
                <a:spcPts val="200"/>
              </a:spcAft>
            </a:pPr>
            <a:r>
              <a:rPr sz="800">
                <a:solidFill>
                  <a:srgbClr val="66BB6A"/>
                </a:solidFill>
                <a:latin typeface="Calibri"/>
              </a:rPr>
              <a:t>● </a:t>
            </a:r>
            <a:r>
              <a:rPr b="1" sz="1200">
                <a:solidFill>
                  <a:srgbClr val="F3E9E2"/>
                </a:solidFill>
                <a:latin typeface="Calibri"/>
              </a:rPr>
              <a:t>UC-02 </a:t>
            </a:r>
            <a:r>
              <a:rPr sz="1200">
                <a:solidFill>
                  <a:srgbClr val="BCAAA4"/>
                </a:solidFill>
                <a:latin typeface="Calibri"/>
              </a:rPr>
              <a:t>Gestionar usuarios y roles</a:t>
            </a:r>
          </a:p>
          <a:p>
            <a:pPr>
              <a:spcAft>
                <a:spcPts val="200"/>
              </a:spcAft>
            </a:pPr>
            <a:r>
              <a:rPr sz="800">
                <a:solidFill>
                  <a:srgbClr val="66BB6A"/>
                </a:solidFill>
                <a:latin typeface="Calibri"/>
              </a:rPr>
              <a:t>● </a:t>
            </a:r>
            <a:r>
              <a:rPr b="1" sz="1200">
                <a:solidFill>
                  <a:srgbClr val="F3E9E2"/>
                </a:solidFill>
                <a:latin typeface="Calibri"/>
              </a:rPr>
              <a:t>UC-03 </a:t>
            </a:r>
            <a:r>
              <a:rPr sz="1200">
                <a:solidFill>
                  <a:srgbClr val="BCAAA4"/>
                </a:solidFill>
                <a:latin typeface="Calibri"/>
              </a:rPr>
              <a:t>Registrar cliente</a:t>
            </a:r>
          </a:p>
          <a:p>
            <a:pPr>
              <a:spcAft>
                <a:spcPts val="200"/>
              </a:spcAft>
            </a:pPr>
            <a:r>
              <a:rPr sz="800">
                <a:solidFill>
                  <a:srgbClr val="66BB6A"/>
                </a:solidFill>
                <a:latin typeface="Calibri"/>
              </a:rPr>
              <a:t>● </a:t>
            </a:r>
            <a:r>
              <a:rPr b="1" sz="1200">
                <a:solidFill>
                  <a:srgbClr val="F3E9E2"/>
                </a:solidFill>
                <a:latin typeface="Calibri"/>
              </a:rPr>
              <a:t>UC-04 </a:t>
            </a:r>
            <a:r>
              <a:rPr sz="1200">
                <a:solidFill>
                  <a:srgbClr val="BCAAA4"/>
                </a:solidFill>
                <a:latin typeface="Calibri"/>
              </a:rPr>
              <a:t>Consultar y editar cliente</a:t>
            </a:r>
          </a:p>
          <a:p>
            <a:pPr>
              <a:spcAft>
                <a:spcPts val="200"/>
              </a:spcAft>
            </a:pPr>
            <a:r>
              <a:rPr sz="800">
                <a:solidFill>
                  <a:srgbClr val="66BB6A"/>
                </a:solidFill>
                <a:latin typeface="Calibri"/>
              </a:rPr>
              <a:t>● </a:t>
            </a:r>
            <a:r>
              <a:rPr b="1" sz="1200">
                <a:solidFill>
                  <a:srgbClr val="F3E9E2"/>
                </a:solidFill>
                <a:latin typeface="Calibri"/>
              </a:rPr>
              <a:t>UC-05 </a:t>
            </a:r>
            <a:r>
              <a:rPr sz="1200">
                <a:solidFill>
                  <a:srgbClr val="BCAAA4"/>
                </a:solidFill>
                <a:latin typeface="Calibri"/>
              </a:rPr>
              <a:t>Registrar y consultar productos del catálogo</a:t>
            </a:r>
          </a:p>
          <a:p>
            <a:pPr>
              <a:spcAft>
                <a:spcPts val="200"/>
              </a:spcAft>
            </a:pPr>
            <a:r>
              <a:rPr sz="800">
                <a:solidFill>
                  <a:srgbClr val="66BB6A"/>
                </a:solidFill>
                <a:latin typeface="Calibri"/>
              </a:rPr>
              <a:t>● </a:t>
            </a:r>
            <a:r>
              <a:rPr b="1" sz="1200">
                <a:solidFill>
                  <a:srgbClr val="F3E9E2"/>
                </a:solidFill>
                <a:latin typeface="Calibri"/>
              </a:rPr>
              <a:t>UC-06 </a:t>
            </a:r>
            <a:r>
              <a:rPr sz="1200">
                <a:solidFill>
                  <a:srgbClr val="BCAAA4"/>
                </a:solidFill>
                <a:latin typeface="Calibri"/>
              </a:rPr>
              <a:t>Consultar inventario</a:t>
            </a:r>
          </a:p>
          <a:p>
            <a:pPr>
              <a:spcAft>
                <a:spcPts val="200"/>
              </a:spcAft>
            </a:pPr>
            <a:r>
              <a:rPr sz="800">
                <a:solidFill>
                  <a:srgbClr val="66BB6A"/>
                </a:solidFill>
                <a:latin typeface="Calibri"/>
              </a:rPr>
              <a:t>● </a:t>
            </a:r>
            <a:r>
              <a:rPr b="1" sz="1200">
                <a:solidFill>
                  <a:srgbClr val="F3E9E2"/>
                </a:solidFill>
                <a:latin typeface="Calibri"/>
              </a:rPr>
              <a:t>UC-07 </a:t>
            </a:r>
            <a:r>
              <a:rPr sz="1200">
                <a:solidFill>
                  <a:srgbClr val="BCAAA4"/>
                </a:solidFill>
                <a:latin typeface="Calibri"/>
              </a:rPr>
              <a:t>Registrar movimiento de inventario</a:t>
            </a:r>
          </a:p>
          <a:p>
            <a:pPr>
              <a:spcAft>
                <a:spcPts val="200"/>
              </a:spcAft>
            </a:pPr>
            <a:r>
              <a:rPr sz="800">
                <a:solidFill>
                  <a:srgbClr val="66BB6A"/>
                </a:solidFill>
                <a:latin typeface="Calibri"/>
              </a:rPr>
              <a:t>● </a:t>
            </a:r>
            <a:r>
              <a:rPr b="1" sz="1200">
                <a:solidFill>
                  <a:srgbClr val="F3E9E2"/>
                </a:solidFill>
                <a:latin typeface="Calibri"/>
              </a:rPr>
              <a:t>UC-08 </a:t>
            </a:r>
            <a:r>
              <a:rPr sz="1200">
                <a:solidFill>
                  <a:srgbClr val="BCAAA4"/>
                </a:solidFill>
                <a:latin typeface="Calibri"/>
              </a:rPr>
              <a:t>Crear exportación</a:t>
            </a:r>
          </a:p>
          <a:p>
            <a:pPr>
              <a:spcAft>
                <a:spcPts val="200"/>
              </a:spcAft>
            </a:pPr>
            <a:r>
              <a:rPr sz="800">
                <a:solidFill>
                  <a:srgbClr val="66BB6A"/>
                </a:solidFill>
                <a:latin typeface="Calibri"/>
              </a:rPr>
              <a:t>● </a:t>
            </a:r>
            <a:r>
              <a:rPr b="1" sz="1200">
                <a:solidFill>
                  <a:srgbClr val="F3E9E2"/>
                </a:solidFill>
                <a:latin typeface="Calibri"/>
              </a:rPr>
              <a:t>UC-09 </a:t>
            </a:r>
            <a:r>
              <a:rPr sz="1200">
                <a:solidFill>
                  <a:srgbClr val="BCAAA4"/>
                </a:solidFill>
                <a:latin typeface="Calibri"/>
              </a:rPr>
              <a:t>Adjuntar documentos de exportación</a:t>
            </a:r>
          </a:p>
          <a:p>
            <a:pPr>
              <a:spcAft>
                <a:spcPts val="200"/>
              </a:spcAft>
            </a:pPr>
            <a:r>
              <a:rPr sz="800">
                <a:solidFill>
                  <a:srgbClr val="66BB6A"/>
                </a:solidFill>
                <a:latin typeface="Calibri"/>
              </a:rPr>
              <a:t>● </a:t>
            </a:r>
            <a:r>
              <a:rPr b="1" sz="1200">
                <a:solidFill>
                  <a:srgbClr val="F3E9E2"/>
                </a:solidFill>
                <a:latin typeface="Calibri"/>
              </a:rPr>
              <a:t>UC-10 </a:t>
            </a:r>
            <a:r>
              <a:rPr sz="1200">
                <a:solidFill>
                  <a:srgbClr val="BCAAA4"/>
                </a:solidFill>
                <a:latin typeface="Calibri"/>
              </a:rPr>
              <a:t>Registrar pago internacional</a:t>
            </a:r>
          </a:p>
          <a:p>
            <a:pPr>
              <a:spcAft>
                <a:spcPts val="200"/>
              </a:spcAft>
            </a:pPr>
            <a:r>
              <a:rPr sz="800">
                <a:solidFill>
                  <a:srgbClr val="66BB6A"/>
                </a:solidFill>
                <a:latin typeface="Calibri"/>
              </a:rPr>
              <a:t>● </a:t>
            </a:r>
            <a:r>
              <a:rPr b="1" sz="1200">
                <a:solidFill>
                  <a:srgbClr val="F3E9E2"/>
                </a:solidFill>
                <a:latin typeface="Calibri"/>
              </a:rPr>
              <a:t>UC-11 </a:t>
            </a:r>
            <a:r>
              <a:rPr sz="1200">
                <a:solidFill>
                  <a:srgbClr val="BCAAA4"/>
                </a:solidFill>
                <a:latin typeface="Calibri"/>
              </a:rPr>
              <a:t>Generar y exportar reporte</a:t>
            </a:r>
          </a:p>
          <a:p>
            <a:pPr>
              <a:spcAft>
                <a:spcPts val="200"/>
              </a:spcAft>
            </a:pPr>
            <a:r>
              <a:rPr sz="800">
                <a:solidFill>
                  <a:srgbClr val="66BB6A"/>
                </a:solidFill>
                <a:latin typeface="Calibri"/>
              </a:rPr>
              <a:t>● </a:t>
            </a:r>
            <a:r>
              <a:rPr b="1" sz="1200">
                <a:solidFill>
                  <a:srgbClr val="F3E9E2"/>
                </a:solidFill>
                <a:latin typeface="Calibri"/>
              </a:rPr>
              <a:t>UC-12 </a:t>
            </a:r>
            <a:r>
              <a:rPr sz="1200">
                <a:solidFill>
                  <a:srgbClr val="BCAAA4"/>
                </a:solidFill>
                <a:latin typeface="Calibri"/>
              </a:rPr>
              <a:t>Visualizar dashboard ejecutivo</a:t>
            </a:r>
          </a:p>
          <a:p>
            <a:pPr>
              <a:spcAft>
                <a:spcPts val="200"/>
              </a:spcAft>
            </a:pPr>
            <a:r>
              <a:rPr sz="800">
                <a:solidFill>
                  <a:srgbClr val="66BB6A"/>
                </a:solidFill>
                <a:latin typeface="Calibri"/>
              </a:rPr>
              <a:t>● </a:t>
            </a:r>
            <a:r>
              <a:rPr b="1" sz="1200">
                <a:solidFill>
                  <a:srgbClr val="F3E9E2"/>
                </a:solidFill>
                <a:latin typeface="Calibri"/>
              </a:rPr>
              <a:t>UC-13 </a:t>
            </a:r>
            <a:r>
              <a:rPr sz="1200">
                <a:solidFill>
                  <a:srgbClr val="BCAAA4"/>
                </a:solidFill>
                <a:latin typeface="Calibri"/>
              </a:rPr>
              <a:t>Consultar estado de mi exportación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Modelo de base de datos</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13 tablas · MySQL · mejora del modelo inicial de 8 entidades</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5</a:t>
            </a:r>
          </a:p>
        </p:txBody>
      </p:sp>
      <p:sp>
        <p:nvSpPr>
          <p:cNvPr id="7" name="Rounded Rectangle 6"/>
          <p:cNvSpPr/>
          <p:nvPr/>
        </p:nvSpPr>
        <p:spPr>
          <a:xfrm>
            <a:off x="566928" y="1389888"/>
            <a:ext cx="5530055" cy="4901184"/>
          </a:xfrm>
          <a:prstGeom prst="roundRect">
            <a:avLst>
              <a:gd name="adj" fmla="val 6000"/>
            </a:avLst>
          </a:prstGeom>
          <a:solidFill>
            <a:srgbClr val="15110F"/>
          </a:solidFill>
          <a:ln w="12700">
            <a:solidFill>
              <a:srgbClr val="2C2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r_dark.png"/>
          <p:cNvPicPr>
            <a:picLocks noChangeAspect="1"/>
          </p:cNvPicPr>
          <p:nvPr/>
        </p:nvPicPr>
        <p:blipFill>
          <a:blip r:embed="rId3"/>
          <a:stretch>
            <a:fillRect/>
          </a:stretch>
        </p:blipFill>
        <p:spPr>
          <a:xfrm>
            <a:off x="640080" y="1463040"/>
            <a:ext cx="5383751" cy="4754880"/>
          </a:xfrm>
          <a:prstGeom prst="rect">
            <a:avLst/>
          </a:prstGeom>
        </p:spPr>
      </p:pic>
      <p:sp>
        <p:nvSpPr>
          <p:cNvPr id="9" name="Rounded Rectangle 8"/>
          <p:cNvSpPr/>
          <p:nvPr/>
        </p:nvSpPr>
        <p:spPr>
          <a:xfrm>
            <a:off x="6583680" y="1371600"/>
            <a:ext cx="5074920" cy="489204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463040"/>
            <a:ext cx="4754880" cy="365760"/>
          </a:xfrm>
          <a:prstGeom prst="rect">
            <a:avLst/>
          </a:prstGeom>
          <a:noFill/>
        </p:spPr>
        <p:txBody>
          <a:bodyPr wrap="square" lIns="45720" rIns="45720" tIns="27432" bIns="27432" anchor="t">
            <a:spAutoFit/>
          </a:bodyPr>
          <a:lstStyle/>
          <a:p>
            <a:pPr algn="l"/>
            <a:r>
              <a:rPr sz="1600" b="1">
                <a:solidFill>
                  <a:srgbClr val="66BB6A"/>
                </a:solidFill>
                <a:latin typeface="Calibri"/>
              </a:rPr>
              <a:t>Mejoras clave</a:t>
            </a:r>
          </a:p>
        </p:txBody>
      </p:sp>
      <p:sp>
        <p:nvSpPr>
          <p:cNvPr id="11" name="TextBox 10"/>
          <p:cNvSpPr txBox="1"/>
          <p:nvPr/>
        </p:nvSpPr>
        <p:spPr>
          <a:xfrm>
            <a:off x="6766560" y="1874519"/>
            <a:ext cx="4754880" cy="4389120"/>
          </a:xfrm>
          <a:prstGeom prst="rect">
            <a:avLst/>
          </a:prstGeom>
          <a:noFill/>
        </p:spPr>
        <p:txBody>
          <a:bodyPr wrap="square" lIns="45720">
            <a:spAutoFit/>
          </a:bodyPr>
          <a:lstStyle/>
          <a:p>
            <a:pPr>
              <a:spcAft>
                <a:spcPts val="700"/>
              </a:spcAft>
            </a:pPr>
            <a:r>
              <a:rPr sz="800">
                <a:solidFill>
                  <a:srgbClr val="66BB6A"/>
                </a:solidFill>
                <a:latin typeface="Calibri"/>
              </a:rPr>
              <a:t>● </a:t>
            </a:r>
            <a:r>
              <a:rPr b="1" sz="1300">
                <a:solidFill>
                  <a:srgbClr val="F3E9E2"/>
                </a:solidFill>
                <a:latin typeface="Calibri"/>
              </a:rPr>
              <a:t>usuarios: </a:t>
            </a:r>
            <a:r>
              <a:rPr sz="1300">
                <a:solidFill>
                  <a:srgbClr val="BCAAA4"/>
                </a:solidFill>
                <a:latin typeface="Calibri"/>
              </a:rPr>
              <a:t>rol_id (FK a roles), email, password_hash (BCrypt), activo</a:t>
            </a:r>
          </a:p>
          <a:p>
            <a:pPr>
              <a:spcAft>
                <a:spcPts val="700"/>
              </a:spcAft>
            </a:pPr>
            <a:r>
              <a:rPr sz="800">
                <a:solidFill>
                  <a:srgbClr val="66BB6A"/>
                </a:solidFill>
                <a:latin typeface="Calibri"/>
              </a:rPr>
              <a:t>● </a:t>
            </a:r>
            <a:r>
              <a:rPr b="1" sz="1300">
                <a:solidFill>
                  <a:srgbClr val="F3E9E2"/>
                </a:solidFill>
                <a:latin typeface="Calibri"/>
              </a:rPr>
              <a:t>detalle_exportacion: </a:t>
            </a:r>
            <a:r>
              <a:rPr sz="1300">
                <a:solidFill>
                  <a:srgbClr val="BCAAA4"/>
                </a:solidFill>
                <a:latin typeface="Calibri"/>
              </a:rPr>
              <a:t>varios productos por exportación</a:t>
            </a:r>
          </a:p>
          <a:p>
            <a:pPr>
              <a:spcAft>
                <a:spcPts val="700"/>
              </a:spcAft>
            </a:pPr>
            <a:r>
              <a:rPr sz="800">
                <a:solidFill>
                  <a:srgbClr val="66BB6A"/>
                </a:solidFill>
                <a:latin typeface="Calibri"/>
              </a:rPr>
              <a:t>● </a:t>
            </a:r>
            <a:r>
              <a:rPr b="1" sz="1300">
                <a:solidFill>
                  <a:srgbClr val="F3E9E2"/>
                </a:solidFill>
                <a:latin typeface="Calibri"/>
              </a:rPr>
              <a:t>exportaciones: </a:t>
            </a:r>
            <a:r>
              <a:rPr sz="1300">
                <a:solidFill>
                  <a:srgbClr val="BCAAA4"/>
                </a:solidFill>
                <a:latin typeface="Calibri"/>
              </a:rPr>
              <a:t>país destino, puertos, fecha de envío, usuario creador</a:t>
            </a:r>
          </a:p>
          <a:p>
            <a:pPr>
              <a:spcAft>
                <a:spcPts val="700"/>
              </a:spcAft>
            </a:pPr>
            <a:r>
              <a:rPr sz="800">
                <a:solidFill>
                  <a:srgbClr val="66BB6A"/>
                </a:solidFill>
                <a:latin typeface="Calibri"/>
              </a:rPr>
              <a:t>● </a:t>
            </a:r>
            <a:r>
              <a:rPr b="1" sz="1300">
                <a:solidFill>
                  <a:srgbClr val="F3E9E2"/>
                </a:solidFill>
                <a:latin typeface="Calibri"/>
              </a:rPr>
              <a:t>clientes: </a:t>
            </a:r>
            <a:r>
              <a:rPr sz="1300">
                <a:solidFill>
                  <a:srgbClr val="BCAAA4"/>
                </a:solidFill>
                <a:latin typeface="Calibri"/>
              </a:rPr>
              <a:t>identificación fiscal y consentimiento de datos (GDPR)</a:t>
            </a:r>
          </a:p>
          <a:p>
            <a:pPr>
              <a:spcAft>
                <a:spcPts val="700"/>
              </a:spcAft>
            </a:pPr>
            <a:r>
              <a:rPr sz="800">
                <a:solidFill>
                  <a:srgbClr val="66BB6A"/>
                </a:solidFill>
                <a:latin typeface="Calibri"/>
              </a:rPr>
              <a:t>● </a:t>
            </a:r>
            <a:r>
              <a:rPr b="1" sz="1300">
                <a:solidFill>
                  <a:srgbClr val="F3E9E2"/>
                </a:solidFill>
                <a:latin typeface="Calibri"/>
              </a:rPr>
              <a:t>bodegas y movimientos: </a:t>
            </a:r>
            <a:r>
              <a:rPr sz="1300">
                <a:solidFill>
                  <a:srgbClr val="BCAAA4"/>
                </a:solidFill>
                <a:latin typeface="Calibri"/>
              </a:rPr>
              <a:t>stock por bodega y trazabilidad</a:t>
            </a:r>
          </a:p>
          <a:p>
            <a:pPr>
              <a:spcAft>
                <a:spcPts val="700"/>
              </a:spcAft>
            </a:pPr>
            <a:r>
              <a:rPr sz="800">
                <a:solidFill>
                  <a:srgbClr val="66BB6A"/>
                </a:solidFill>
                <a:latin typeface="Calibri"/>
              </a:rPr>
              <a:t>● </a:t>
            </a:r>
            <a:r>
              <a:rPr b="1" sz="1300">
                <a:solidFill>
                  <a:srgbClr val="F3E9E2"/>
                </a:solidFill>
                <a:latin typeface="Calibri"/>
              </a:rPr>
              <a:t>created_at / updated_at: </a:t>
            </a:r>
            <a:r>
              <a:rPr sz="1300">
                <a:solidFill>
                  <a:srgbClr val="BCAAA4"/>
                </a:solidFill>
                <a:latin typeface="Calibri"/>
              </a:rPr>
              <a:t>auditoría en entidades principales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Ítems implementados en septiembre</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Sprint 1 · base del sistema · responsables por validar con Jira</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6</a:t>
            </a:r>
          </a:p>
        </p:txBody>
      </p:sp>
      <p:graphicFrame>
        <p:nvGraphicFramePr>
          <p:cNvPr id="7" name="Table 6"/>
          <p:cNvGraphicFramePr>
            <a:graphicFrameLocks noGrp="1"/>
          </p:cNvGraphicFramePr>
          <p:nvPr/>
        </p:nvGraphicFramePr>
        <p:xfrm>
          <a:off x="548640" y="1554480"/>
          <a:ext cx="11064240" cy="3931920"/>
        </p:xfrm>
        <a:graphic>
          <a:graphicData uri="http://schemas.openxmlformats.org/drawingml/2006/table">
            <a:tbl>
              <a:tblPr firstRow="1" bandRow="1">
                <a:tableStyleId>{5C22544A-7EE6-4342-B048-85BDC9FD1C3A}</a:tableStyleId>
              </a:tblPr>
              <a:tblGrid>
                <a:gridCol w="1097280"/>
                <a:gridCol w="2377440"/>
                <a:gridCol w="2011680"/>
                <a:gridCol w="4023360"/>
                <a:gridCol w="1554480"/>
              </a:tblGrid>
              <a:tr h="457200">
                <a:tc>
                  <a:txBody>
                    <a:bodyPr/>
                    <a:lstStyle/>
                    <a:p>
                      <a:r>
                        <a:rPr sz="1400" b="1">
                          <a:solidFill>
                            <a:srgbClr val="15110F"/>
                          </a:solidFill>
                          <a:latin typeface="Calibri"/>
                        </a:rPr>
                        <a:t>ID</a:t>
                      </a:r>
                    </a:p>
                  </a:txBody>
                  <a:tcPr anchor="ctr" marL="109728">
                    <a:solidFill>
                      <a:srgbClr val="66BB6A"/>
                    </a:solidFill>
                  </a:tcPr>
                </a:tc>
                <a:tc>
                  <a:txBody>
                    <a:bodyPr/>
                    <a:lstStyle/>
                    <a:p>
                      <a:r>
                        <a:rPr sz="1400" b="1">
                          <a:solidFill>
                            <a:srgbClr val="15110F"/>
                          </a:solidFill>
                          <a:latin typeface="Calibri"/>
                        </a:rPr>
                        <a:t>Ítem</a:t>
                      </a:r>
                    </a:p>
                  </a:txBody>
                  <a:tcPr anchor="ctr" marL="109728">
                    <a:solidFill>
                      <a:srgbClr val="66BB6A"/>
                    </a:solidFill>
                  </a:tcPr>
                </a:tc>
                <a:tc>
                  <a:txBody>
                    <a:bodyPr/>
                    <a:lstStyle/>
                    <a:p>
                      <a:r>
                        <a:rPr sz="1400" b="1">
                          <a:solidFill>
                            <a:srgbClr val="15110F"/>
                          </a:solidFill>
                          <a:latin typeface="Calibri"/>
                        </a:rPr>
                        <a:t>Módulo</a:t>
                      </a:r>
                    </a:p>
                  </a:txBody>
                  <a:tcPr anchor="ctr" marL="109728">
                    <a:solidFill>
                      <a:srgbClr val="66BB6A"/>
                    </a:solidFill>
                  </a:tcPr>
                </a:tc>
                <a:tc>
                  <a:txBody>
                    <a:bodyPr/>
                    <a:lstStyle/>
                    <a:p>
                      <a:r>
                        <a:rPr sz="1400" b="1">
                          <a:solidFill>
                            <a:srgbClr val="15110F"/>
                          </a:solidFill>
                          <a:latin typeface="Calibri"/>
                        </a:rPr>
                        <a:t>Responsable</a:t>
                      </a:r>
                    </a:p>
                  </a:txBody>
                  <a:tcPr anchor="ctr" marL="109728">
                    <a:solidFill>
                      <a:srgbClr val="66BB6A"/>
                    </a:solidFill>
                  </a:tcPr>
                </a:tc>
                <a:tc>
                  <a:txBody>
                    <a:bodyPr/>
                    <a:lstStyle/>
                    <a:p>
                      <a:r>
                        <a:rPr sz="1400" b="1">
                          <a:solidFill>
                            <a:srgbClr val="15110F"/>
                          </a:solidFill>
                          <a:latin typeface="Calibri"/>
                        </a:rPr>
                        <a:t>Estado</a:t>
                      </a:r>
                    </a:p>
                  </a:txBody>
                  <a:tcPr anchor="ctr" marL="109728">
                    <a:solidFill>
                      <a:srgbClr val="66BB6A"/>
                    </a:solidFill>
                  </a:tcPr>
                </a:tc>
              </a:tr>
              <a:tr h="868680">
                <a:tc>
                  <a:txBody>
                    <a:bodyPr/>
                    <a:lstStyle/>
                    <a:p>
                      <a:r>
                        <a:rPr sz="1400" b="1">
                          <a:solidFill>
                            <a:srgbClr val="66BB6A"/>
                          </a:solidFill>
                          <a:latin typeface="Calibri"/>
                        </a:rPr>
                        <a:t>HU-01</a:t>
                      </a:r>
                    </a:p>
                  </a:txBody>
                  <a:tcPr anchor="ctr" marL="109728">
                    <a:solidFill>
                      <a:srgbClr val="221A16"/>
                    </a:solidFill>
                  </a:tcPr>
                </a:tc>
                <a:tc>
                  <a:txBody>
                    <a:bodyPr/>
                    <a:lstStyle/>
                    <a:p>
                      <a:r>
                        <a:rPr sz="1400" b="0">
                          <a:solidFill>
                            <a:srgbClr val="F3E9E2"/>
                          </a:solidFill>
                          <a:latin typeface="Calibri"/>
                        </a:rPr>
                        <a:t>Autenticación</a:t>
                      </a:r>
                    </a:p>
                  </a:txBody>
                  <a:tcPr anchor="ctr" marL="109728">
                    <a:solidFill>
                      <a:srgbClr val="221A16"/>
                    </a:solidFill>
                  </a:tcPr>
                </a:tc>
                <a:tc>
                  <a:txBody>
                    <a:bodyPr/>
                    <a:lstStyle/>
                    <a:p>
                      <a:r>
                        <a:rPr sz="1400" b="0">
                          <a:solidFill>
                            <a:srgbClr val="F3E9E2"/>
                          </a:solidFill>
                          <a:latin typeface="Calibri"/>
                        </a:rPr>
                        <a:t>Usuarios</a:t>
                      </a:r>
                    </a:p>
                  </a:txBody>
                  <a:tcPr anchor="ctr" marL="109728">
                    <a:solidFill>
                      <a:srgbClr val="221A16"/>
                    </a:solidFill>
                  </a:tcPr>
                </a:tc>
                <a:tc>
                  <a:txBody>
                    <a:bodyPr/>
                    <a:lstStyle/>
                    <a:p>
                      <a:r>
                        <a:rPr sz="1300" b="0">
                          <a:solidFill>
                            <a:srgbClr val="F3E9E2"/>
                          </a:solidFill>
                          <a:latin typeface="Calibri"/>
                        </a:rPr>
                        <a:t>Brayan Guerrero (propuesta)</a:t>
                      </a:r>
                    </a:p>
                  </a:txBody>
                  <a:tcPr anchor="ctr" marL="109728">
                    <a:solidFill>
                      <a:srgbClr val="221A16"/>
                    </a:solidFill>
                  </a:tcPr>
                </a:tc>
                <a:tc>
                  <a:txBody>
                    <a:bodyPr/>
                    <a:lstStyle/>
                    <a:p>
                      <a:r>
                        <a:rPr sz="1400" b="0">
                          <a:solidFill>
                            <a:srgbClr val="F3E9E2"/>
                          </a:solidFill>
                          <a:latin typeface="Calibri"/>
                        </a:rPr>
                        <a:t>Completado</a:t>
                      </a:r>
                    </a:p>
                  </a:txBody>
                  <a:tcPr anchor="ctr" marL="109728">
                    <a:solidFill>
                      <a:srgbClr val="221A16"/>
                    </a:solidFill>
                  </a:tcPr>
                </a:tc>
              </a:tr>
              <a:tr h="868680">
                <a:tc>
                  <a:txBody>
                    <a:bodyPr/>
                    <a:lstStyle/>
                    <a:p>
                      <a:r>
                        <a:rPr sz="1400" b="1">
                          <a:solidFill>
                            <a:srgbClr val="66BB6A"/>
                          </a:solidFill>
                          <a:latin typeface="Calibri"/>
                        </a:rPr>
                        <a:t>HU-02</a:t>
                      </a:r>
                    </a:p>
                  </a:txBody>
                  <a:tcPr anchor="ctr" marL="109728">
                    <a:solidFill>
                      <a:srgbClr val="2C221D"/>
                    </a:solidFill>
                  </a:tcPr>
                </a:tc>
                <a:tc>
                  <a:txBody>
                    <a:bodyPr/>
                    <a:lstStyle/>
                    <a:p>
                      <a:r>
                        <a:rPr sz="1400" b="0">
                          <a:solidFill>
                            <a:srgbClr val="F3E9E2"/>
                          </a:solidFill>
                          <a:latin typeface="Calibri"/>
                        </a:rPr>
                        <a:t>Clientes</a:t>
                      </a:r>
                    </a:p>
                  </a:txBody>
                  <a:tcPr anchor="ctr" marL="109728">
                    <a:solidFill>
                      <a:srgbClr val="2C221D"/>
                    </a:solidFill>
                  </a:tcPr>
                </a:tc>
                <a:tc>
                  <a:txBody>
                    <a:bodyPr/>
                    <a:lstStyle/>
                    <a:p>
                      <a:r>
                        <a:rPr sz="1400" b="0">
                          <a:solidFill>
                            <a:srgbClr val="F3E9E2"/>
                          </a:solidFill>
                          <a:latin typeface="Calibri"/>
                        </a:rPr>
                        <a:t>Clientes</a:t>
                      </a:r>
                    </a:p>
                  </a:txBody>
                  <a:tcPr anchor="ctr" marL="109728">
                    <a:solidFill>
                      <a:srgbClr val="2C221D"/>
                    </a:solidFill>
                  </a:tcPr>
                </a:tc>
                <a:tc>
                  <a:txBody>
                    <a:bodyPr/>
                    <a:lstStyle/>
                    <a:p>
                      <a:r>
                        <a:rPr sz="1300" b="0">
                          <a:solidFill>
                            <a:srgbClr val="F3E9E2"/>
                          </a:solidFill>
                          <a:latin typeface="Calibri"/>
                        </a:rPr>
                        <a:t>Juan Jurado (propuesta)</a:t>
                      </a:r>
                    </a:p>
                  </a:txBody>
                  <a:tcPr anchor="ctr" marL="109728">
                    <a:solidFill>
                      <a:srgbClr val="2C221D"/>
                    </a:solidFill>
                  </a:tcPr>
                </a:tc>
                <a:tc>
                  <a:txBody>
                    <a:bodyPr/>
                    <a:lstStyle/>
                    <a:p>
                      <a:r>
                        <a:rPr sz="1400" b="0">
                          <a:solidFill>
                            <a:srgbClr val="F3E9E2"/>
                          </a:solidFill>
                          <a:latin typeface="Calibri"/>
                        </a:rPr>
                        <a:t>Completado</a:t>
                      </a:r>
                    </a:p>
                  </a:txBody>
                  <a:tcPr anchor="ctr" marL="109728">
                    <a:solidFill>
                      <a:srgbClr val="2C221D"/>
                    </a:solidFill>
                  </a:tcPr>
                </a:tc>
              </a:tr>
              <a:tr h="868680">
                <a:tc>
                  <a:txBody>
                    <a:bodyPr/>
                    <a:lstStyle/>
                    <a:p>
                      <a:r>
                        <a:rPr sz="1400" b="1">
                          <a:solidFill>
                            <a:srgbClr val="66BB6A"/>
                          </a:solidFill>
                          <a:latin typeface="Calibri"/>
                        </a:rPr>
                        <a:t>HU-03</a:t>
                      </a:r>
                    </a:p>
                  </a:txBody>
                  <a:tcPr anchor="ctr" marL="109728">
                    <a:solidFill>
                      <a:srgbClr val="221A16"/>
                    </a:solidFill>
                  </a:tcPr>
                </a:tc>
                <a:tc>
                  <a:txBody>
                    <a:bodyPr/>
                    <a:lstStyle/>
                    <a:p>
                      <a:r>
                        <a:rPr sz="1400" b="0">
                          <a:solidFill>
                            <a:srgbClr val="F3E9E2"/>
                          </a:solidFill>
                          <a:latin typeface="Calibri"/>
                        </a:rPr>
                        <a:t>Productos</a:t>
                      </a:r>
                    </a:p>
                  </a:txBody>
                  <a:tcPr anchor="ctr" marL="109728">
                    <a:solidFill>
                      <a:srgbClr val="221A16"/>
                    </a:solidFill>
                  </a:tcPr>
                </a:tc>
                <a:tc>
                  <a:txBody>
                    <a:bodyPr/>
                    <a:lstStyle/>
                    <a:p>
                      <a:r>
                        <a:rPr sz="1400" b="0">
                          <a:solidFill>
                            <a:srgbClr val="F3E9E2"/>
                          </a:solidFill>
                          <a:latin typeface="Calibri"/>
                        </a:rPr>
                        <a:t>Productos</a:t>
                      </a:r>
                    </a:p>
                  </a:txBody>
                  <a:tcPr anchor="ctr" marL="109728">
                    <a:solidFill>
                      <a:srgbClr val="221A16"/>
                    </a:solidFill>
                  </a:tcPr>
                </a:tc>
                <a:tc>
                  <a:txBody>
                    <a:bodyPr/>
                    <a:lstStyle/>
                    <a:p>
                      <a:r>
                        <a:rPr sz="1300" b="0">
                          <a:solidFill>
                            <a:srgbClr val="F3E9E2"/>
                          </a:solidFill>
                          <a:latin typeface="Calibri"/>
                        </a:rPr>
                        <a:t>Nicoll López (propuesta)</a:t>
                      </a:r>
                    </a:p>
                  </a:txBody>
                  <a:tcPr anchor="ctr" marL="109728">
                    <a:solidFill>
                      <a:srgbClr val="221A16"/>
                    </a:solidFill>
                  </a:tcPr>
                </a:tc>
                <a:tc>
                  <a:txBody>
                    <a:bodyPr/>
                    <a:lstStyle/>
                    <a:p>
                      <a:r>
                        <a:rPr sz="1400" b="0">
                          <a:solidFill>
                            <a:srgbClr val="F3E9E2"/>
                          </a:solidFill>
                          <a:latin typeface="Calibri"/>
                        </a:rPr>
                        <a:t>Completado</a:t>
                      </a:r>
                    </a:p>
                  </a:txBody>
                  <a:tcPr anchor="ctr" marL="109728">
                    <a:solidFill>
                      <a:srgbClr val="221A16"/>
                    </a:solidFill>
                  </a:tcPr>
                </a:tc>
              </a:tr>
              <a:tr h="868680">
                <a:tc>
                  <a:txBody>
                    <a:bodyPr/>
                    <a:lstStyle/>
                    <a:p>
                      <a:r>
                        <a:rPr sz="1400" b="1">
                          <a:solidFill>
                            <a:srgbClr val="66BB6A"/>
                          </a:solidFill>
                          <a:latin typeface="Calibri"/>
                        </a:rPr>
                        <a:t>HU-04</a:t>
                      </a:r>
                    </a:p>
                  </a:txBody>
                  <a:tcPr anchor="ctr" marL="109728">
                    <a:solidFill>
                      <a:srgbClr val="2C221D"/>
                    </a:solidFill>
                  </a:tcPr>
                </a:tc>
                <a:tc>
                  <a:txBody>
                    <a:bodyPr/>
                    <a:lstStyle/>
                    <a:p>
                      <a:r>
                        <a:rPr sz="1400" b="0">
                          <a:solidFill>
                            <a:srgbClr val="F3E9E2"/>
                          </a:solidFill>
                          <a:latin typeface="Calibri"/>
                        </a:rPr>
                        <a:t>Inventario</a:t>
                      </a:r>
                    </a:p>
                  </a:txBody>
                  <a:tcPr anchor="ctr" marL="109728">
                    <a:solidFill>
                      <a:srgbClr val="2C221D"/>
                    </a:solidFill>
                  </a:tcPr>
                </a:tc>
                <a:tc>
                  <a:txBody>
                    <a:bodyPr/>
                    <a:lstStyle/>
                    <a:p>
                      <a:r>
                        <a:rPr sz="1400" b="0">
                          <a:solidFill>
                            <a:srgbClr val="F3E9E2"/>
                          </a:solidFill>
                          <a:latin typeface="Calibri"/>
                        </a:rPr>
                        <a:t>Inventario</a:t>
                      </a:r>
                    </a:p>
                  </a:txBody>
                  <a:tcPr anchor="ctr" marL="109728">
                    <a:solidFill>
                      <a:srgbClr val="2C221D"/>
                    </a:solidFill>
                  </a:tcPr>
                </a:tc>
                <a:tc>
                  <a:txBody>
                    <a:bodyPr/>
                    <a:lstStyle/>
                    <a:p>
                      <a:r>
                        <a:rPr sz="1300" b="0">
                          <a:solidFill>
                            <a:srgbClr val="F3E9E2"/>
                          </a:solidFill>
                          <a:latin typeface="Calibri"/>
                        </a:rPr>
                        <a:t>Alexander Rodríguez (propuesta)</a:t>
                      </a:r>
                    </a:p>
                  </a:txBody>
                  <a:tcPr anchor="ctr" marL="109728">
                    <a:solidFill>
                      <a:srgbClr val="2C221D"/>
                    </a:solidFill>
                  </a:tcPr>
                </a:tc>
                <a:tc>
                  <a:txBody>
                    <a:bodyPr/>
                    <a:lstStyle/>
                    <a:p>
                      <a:r>
                        <a:rPr sz="1400" b="0">
                          <a:solidFill>
                            <a:srgbClr val="F3E9E2"/>
                          </a:solidFill>
                          <a:latin typeface="Calibri"/>
                        </a:rPr>
                        <a:t>Completado</a:t>
                      </a:r>
                    </a:p>
                  </a:txBody>
                  <a:tcPr anchor="ctr" marL="109728">
                    <a:solidFill>
                      <a:srgbClr val="2C221D"/>
                    </a:solidFill>
                  </a:tcPr>
                </a:tc>
              </a:tr>
            </a:tbl>
          </a:graphicData>
        </a:graphic>
      </p:graphicFrame>
      <p:sp>
        <p:nvSpPr>
          <p:cNvPr id="8" name="TextBox 7"/>
          <p:cNvSpPr txBox="1"/>
          <p:nvPr/>
        </p:nvSpPr>
        <p:spPr>
          <a:xfrm>
            <a:off x="548640" y="5577840"/>
            <a:ext cx="10972800" cy="548640"/>
          </a:xfrm>
          <a:prstGeom prst="rect">
            <a:avLst/>
          </a:prstGeom>
          <a:noFill/>
        </p:spPr>
        <p:txBody>
          <a:bodyPr wrap="square" lIns="45720" rIns="45720" tIns="27432" bIns="27432" anchor="t">
            <a:spAutoFit/>
          </a:bodyPr>
          <a:lstStyle/>
          <a:p>
            <a:pPr algn="l"/>
            <a:r>
              <a:rPr sz="1300" b="0">
                <a:solidFill>
                  <a:srgbClr val="FFB74D"/>
                </a:solidFill>
                <a:latin typeface="Calibri"/>
              </a:rPr>
              <a:t>Responsables propuestos según el plan por módulo; no provienen de Git ni de Jira y deben confirmarse.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Épicas e historias de usuario</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9 épicas · 21 historias · 93 puntos de historia</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7</a:t>
            </a:r>
          </a:p>
        </p:txBody>
      </p:sp>
      <p:sp>
        <p:nvSpPr>
          <p:cNvPr id="7" name="Rounded Rectangle 6"/>
          <p:cNvSpPr/>
          <p:nvPr/>
        </p:nvSpPr>
        <p:spPr>
          <a:xfrm>
            <a:off x="548640" y="141732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EP-01 · Usuarios</a:t>
            </a:r>
          </a:p>
        </p:txBody>
      </p:sp>
      <p:sp>
        <p:nvSpPr>
          <p:cNvPr id="9" name="TextBox 8"/>
          <p:cNvSpPr txBox="1"/>
          <p:nvPr/>
        </p:nvSpPr>
        <p:spPr>
          <a:xfrm>
            <a:off x="685800" y="1874519"/>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HU-01, HU-05, HU-06</a:t>
            </a:r>
          </a:p>
        </p:txBody>
      </p:sp>
      <p:sp>
        <p:nvSpPr>
          <p:cNvPr id="10" name="TextBox 9"/>
          <p:cNvSpPr txBox="1"/>
          <p:nvPr/>
        </p:nvSpPr>
        <p:spPr>
          <a:xfrm>
            <a:off x="685800" y="228600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3 historias · 13 pts · 1 completada(s)</a:t>
            </a:r>
          </a:p>
        </p:txBody>
      </p:sp>
      <p:sp>
        <p:nvSpPr>
          <p:cNvPr id="11" name="Rounded Rectangle 10"/>
          <p:cNvSpPr/>
          <p:nvPr/>
        </p:nvSpPr>
        <p:spPr>
          <a:xfrm>
            <a:off x="4297679" y="141732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46304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EP-02 · Clientes</a:t>
            </a:r>
          </a:p>
        </p:txBody>
      </p:sp>
      <p:sp>
        <p:nvSpPr>
          <p:cNvPr id="13" name="TextBox 12"/>
          <p:cNvSpPr txBox="1"/>
          <p:nvPr/>
        </p:nvSpPr>
        <p:spPr>
          <a:xfrm>
            <a:off x="4434840" y="1874519"/>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HU-02, HU-07</a:t>
            </a:r>
          </a:p>
        </p:txBody>
      </p:sp>
      <p:sp>
        <p:nvSpPr>
          <p:cNvPr id="14" name="TextBox 13"/>
          <p:cNvSpPr txBox="1"/>
          <p:nvPr/>
        </p:nvSpPr>
        <p:spPr>
          <a:xfrm>
            <a:off x="4434840" y="228600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2 historias · 8 pts · 1 completada(s)</a:t>
            </a:r>
          </a:p>
        </p:txBody>
      </p:sp>
      <p:sp>
        <p:nvSpPr>
          <p:cNvPr id="15" name="Rounded Rectangle 14"/>
          <p:cNvSpPr/>
          <p:nvPr/>
        </p:nvSpPr>
        <p:spPr>
          <a:xfrm>
            <a:off x="8046719" y="141732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146304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EP-03 · Productos</a:t>
            </a:r>
          </a:p>
        </p:txBody>
      </p:sp>
      <p:sp>
        <p:nvSpPr>
          <p:cNvPr id="17" name="TextBox 16"/>
          <p:cNvSpPr txBox="1"/>
          <p:nvPr/>
        </p:nvSpPr>
        <p:spPr>
          <a:xfrm>
            <a:off x="8183879" y="1874519"/>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HU-03, HU-08</a:t>
            </a:r>
          </a:p>
        </p:txBody>
      </p:sp>
      <p:sp>
        <p:nvSpPr>
          <p:cNvPr id="18" name="TextBox 17"/>
          <p:cNvSpPr txBox="1"/>
          <p:nvPr/>
        </p:nvSpPr>
        <p:spPr>
          <a:xfrm>
            <a:off x="8183879" y="228600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2 historias · 8 pts · 1 completada(s)</a:t>
            </a:r>
          </a:p>
        </p:txBody>
      </p:sp>
      <p:sp>
        <p:nvSpPr>
          <p:cNvPr id="19" name="Rounded Rectangle 18"/>
          <p:cNvSpPr/>
          <p:nvPr/>
        </p:nvSpPr>
        <p:spPr>
          <a:xfrm>
            <a:off x="548640" y="306324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10896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EP-04 · Inventario</a:t>
            </a:r>
          </a:p>
        </p:txBody>
      </p:sp>
      <p:sp>
        <p:nvSpPr>
          <p:cNvPr id="21" name="TextBox 20"/>
          <p:cNvSpPr txBox="1"/>
          <p:nvPr/>
        </p:nvSpPr>
        <p:spPr>
          <a:xfrm>
            <a:off x="685800" y="3520440"/>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HU-04, HU-09, HU-10</a:t>
            </a:r>
          </a:p>
        </p:txBody>
      </p:sp>
      <p:sp>
        <p:nvSpPr>
          <p:cNvPr id="22" name="TextBox 21"/>
          <p:cNvSpPr txBox="1"/>
          <p:nvPr/>
        </p:nvSpPr>
        <p:spPr>
          <a:xfrm>
            <a:off x="685800" y="393192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3 historias · 14 pts · 1 completada(s)</a:t>
            </a:r>
          </a:p>
        </p:txBody>
      </p:sp>
      <p:sp>
        <p:nvSpPr>
          <p:cNvPr id="23" name="Rounded Rectangle 22"/>
          <p:cNvSpPr/>
          <p:nvPr/>
        </p:nvSpPr>
        <p:spPr>
          <a:xfrm>
            <a:off x="4297679" y="306324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310896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EP-05 · Exportaciones</a:t>
            </a:r>
          </a:p>
        </p:txBody>
      </p:sp>
      <p:sp>
        <p:nvSpPr>
          <p:cNvPr id="25" name="TextBox 24"/>
          <p:cNvSpPr txBox="1"/>
          <p:nvPr/>
        </p:nvSpPr>
        <p:spPr>
          <a:xfrm>
            <a:off x="4434840" y="3520440"/>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HU-11, HU-12, HU-13</a:t>
            </a:r>
          </a:p>
        </p:txBody>
      </p:sp>
      <p:sp>
        <p:nvSpPr>
          <p:cNvPr id="26" name="TextBox 25"/>
          <p:cNvSpPr txBox="1"/>
          <p:nvPr/>
        </p:nvSpPr>
        <p:spPr>
          <a:xfrm>
            <a:off x="4434840" y="393192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3 historias · 16 pts · 0 completada(s)</a:t>
            </a:r>
          </a:p>
        </p:txBody>
      </p:sp>
      <p:sp>
        <p:nvSpPr>
          <p:cNvPr id="27" name="Rounded Rectangle 26"/>
          <p:cNvSpPr/>
          <p:nvPr/>
        </p:nvSpPr>
        <p:spPr>
          <a:xfrm>
            <a:off x="8046719" y="306324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79" y="310896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EP-06 · Documentación</a:t>
            </a:r>
          </a:p>
        </p:txBody>
      </p:sp>
      <p:sp>
        <p:nvSpPr>
          <p:cNvPr id="29" name="TextBox 28"/>
          <p:cNvSpPr txBox="1"/>
          <p:nvPr/>
        </p:nvSpPr>
        <p:spPr>
          <a:xfrm>
            <a:off x="8183879" y="3520440"/>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HU-14, HU-15</a:t>
            </a:r>
          </a:p>
        </p:txBody>
      </p:sp>
      <p:sp>
        <p:nvSpPr>
          <p:cNvPr id="30" name="TextBox 29"/>
          <p:cNvSpPr txBox="1"/>
          <p:nvPr/>
        </p:nvSpPr>
        <p:spPr>
          <a:xfrm>
            <a:off x="8183879" y="393192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2 historias · 8 pts · 0 completada(s)</a:t>
            </a:r>
          </a:p>
        </p:txBody>
      </p:sp>
      <p:sp>
        <p:nvSpPr>
          <p:cNvPr id="31" name="Rounded Rectangle 30"/>
          <p:cNvSpPr/>
          <p:nvPr/>
        </p:nvSpPr>
        <p:spPr>
          <a:xfrm>
            <a:off x="548640" y="470916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75488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EP-07 · Pagos</a:t>
            </a:r>
          </a:p>
        </p:txBody>
      </p:sp>
      <p:sp>
        <p:nvSpPr>
          <p:cNvPr id="33" name="TextBox 32"/>
          <p:cNvSpPr txBox="1"/>
          <p:nvPr/>
        </p:nvSpPr>
        <p:spPr>
          <a:xfrm>
            <a:off x="685800" y="5166360"/>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HU-16, HU-17</a:t>
            </a:r>
          </a:p>
        </p:txBody>
      </p:sp>
      <p:sp>
        <p:nvSpPr>
          <p:cNvPr id="34" name="TextBox 33"/>
          <p:cNvSpPr txBox="1"/>
          <p:nvPr/>
        </p:nvSpPr>
        <p:spPr>
          <a:xfrm>
            <a:off x="685800" y="557784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2 historias · 8 pts · 0 completada(s)</a:t>
            </a:r>
          </a:p>
        </p:txBody>
      </p:sp>
      <p:sp>
        <p:nvSpPr>
          <p:cNvPr id="35" name="Rounded Rectangle 34"/>
          <p:cNvSpPr/>
          <p:nvPr/>
        </p:nvSpPr>
        <p:spPr>
          <a:xfrm>
            <a:off x="4297679" y="470916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34840" y="475488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EP-08 · Reportes</a:t>
            </a:r>
          </a:p>
        </p:txBody>
      </p:sp>
      <p:sp>
        <p:nvSpPr>
          <p:cNvPr id="37" name="TextBox 36"/>
          <p:cNvSpPr txBox="1"/>
          <p:nvPr/>
        </p:nvSpPr>
        <p:spPr>
          <a:xfrm>
            <a:off x="4434840" y="5166360"/>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HU-18, HU-19</a:t>
            </a:r>
          </a:p>
        </p:txBody>
      </p:sp>
      <p:sp>
        <p:nvSpPr>
          <p:cNvPr id="38" name="TextBox 37"/>
          <p:cNvSpPr txBox="1"/>
          <p:nvPr/>
        </p:nvSpPr>
        <p:spPr>
          <a:xfrm>
            <a:off x="4434840" y="557784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2 historias · 8 pts · 0 completada(s)</a:t>
            </a:r>
          </a:p>
        </p:txBody>
      </p:sp>
      <p:sp>
        <p:nvSpPr>
          <p:cNvPr id="39" name="Rounded Rectangle 38"/>
          <p:cNvSpPr/>
          <p:nvPr/>
        </p:nvSpPr>
        <p:spPr>
          <a:xfrm>
            <a:off x="8046719" y="4709160"/>
            <a:ext cx="3566160" cy="15087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83879" y="4754880"/>
            <a:ext cx="3291840" cy="365760"/>
          </a:xfrm>
          <a:prstGeom prst="rect">
            <a:avLst/>
          </a:prstGeom>
          <a:noFill/>
        </p:spPr>
        <p:txBody>
          <a:bodyPr wrap="square" lIns="45720" rIns="45720" tIns="27432" bIns="27432" anchor="t">
            <a:spAutoFit/>
          </a:bodyPr>
          <a:lstStyle/>
          <a:p>
            <a:pPr algn="l"/>
            <a:r>
              <a:rPr sz="1600" b="1">
                <a:solidFill>
                  <a:srgbClr val="66BB6A"/>
                </a:solidFill>
                <a:latin typeface="Calibri"/>
              </a:rPr>
              <a:t>EP-09 · Dashboard</a:t>
            </a:r>
          </a:p>
        </p:txBody>
      </p:sp>
      <p:sp>
        <p:nvSpPr>
          <p:cNvPr id="41" name="TextBox 40"/>
          <p:cNvSpPr txBox="1"/>
          <p:nvPr/>
        </p:nvSpPr>
        <p:spPr>
          <a:xfrm>
            <a:off x="8183879" y="5166360"/>
            <a:ext cx="3291840" cy="365760"/>
          </a:xfrm>
          <a:prstGeom prst="rect">
            <a:avLst/>
          </a:prstGeom>
          <a:noFill/>
        </p:spPr>
        <p:txBody>
          <a:bodyPr wrap="square" lIns="45720" rIns="45720" tIns="27432" bIns="27432" anchor="t">
            <a:spAutoFit/>
          </a:bodyPr>
          <a:lstStyle/>
          <a:p>
            <a:pPr algn="l"/>
            <a:r>
              <a:rPr sz="1300" b="0">
                <a:solidFill>
                  <a:srgbClr val="F3E9E2"/>
                </a:solidFill>
                <a:latin typeface="Calibri"/>
              </a:rPr>
              <a:t>HU-20, HU-21</a:t>
            </a:r>
          </a:p>
        </p:txBody>
      </p:sp>
      <p:sp>
        <p:nvSpPr>
          <p:cNvPr id="42" name="TextBox 41"/>
          <p:cNvSpPr txBox="1"/>
          <p:nvPr/>
        </p:nvSpPr>
        <p:spPr>
          <a:xfrm>
            <a:off x="8183879" y="5577840"/>
            <a:ext cx="3291840" cy="548640"/>
          </a:xfrm>
          <a:prstGeom prst="rect">
            <a:avLst/>
          </a:prstGeom>
          <a:noFill/>
        </p:spPr>
        <p:txBody>
          <a:bodyPr wrap="square" lIns="45720" rIns="45720" tIns="27432" bIns="27432" anchor="t">
            <a:spAutoFit/>
          </a:bodyPr>
          <a:lstStyle/>
          <a:p>
            <a:pPr algn="l"/>
            <a:r>
              <a:rPr sz="1200" b="0">
                <a:solidFill>
                  <a:srgbClr val="BCAAA4"/>
                </a:solidFill>
                <a:latin typeface="Calibri"/>
              </a:rPr>
              <a:t>2 historias · 10 pts · 0 completada(s)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Plan de pruebas</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JUnit 5 · Mockito · MockMvc · MySQL · resultados de ejecución por registrar</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8</a:t>
            </a:r>
          </a:p>
        </p:txBody>
      </p:sp>
      <p:sp>
        <p:nvSpPr>
          <p:cNvPr id="7" name="Rounded Rectangle 6"/>
          <p:cNvSpPr/>
          <p:nvPr/>
        </p:nvSpPr>
        <p:spPr>
          <a:xfrm>
            <a:off x="548640" y="1463040"/>
            <a:ext cx="26517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2651760" cy="822960"/>
          </a:xfrm>
          <a:prstGeom prst="rect">
            <a:avLst/>
          </a:prstGeom>
          <a:noFill/>
        </p:spPr>
        <p:txBody>
          <a:bodyPr wrap="square" lIns="45720" rIns="45720" tIns="27432" bIns="27432" anchor="t">
            <a:spAutoFit/>
          </a:bodyPr>
          <a:lstStyle/>
          <a:p>
            <a:pPr algn="ctr"/>
            <a:r>
              <a:rPr sz="4400" b="1">
                <a:solidFill>
                  <a:srgbClr val="66BB6A"/>
                </a:solidFill>
                <a:latin typeface="Calibri"/>
              </a:rPr>
              <a:t>44</a:t>
            </a:r>
          </a:p>
        </p:txBody>
      </p:sp>
      <p:sp>
        <p:nvSpPr>
          <p:cNvPr id="9" name="TextBox 8"/>
          <p:cNvSpPr txBox="1"/>
          <p:nvPr/>
        </p:nvSpPr>
        <p:spPr>
          <a:xfrm>
            <a:off x="548640" y="2331720"/>
            <a:ext cx="2651760" cy="457200"/>
          </a:xfrm>
          <a:prstGeom prst="rect">
            <a:avLst/>
          </a:prstGeom>
          <a:noFill/>
        </p:spPr>
        <p:txBody>
          <a:bodyPr wrap="square" lIns="45720" rIns="45720" tIns="27432" bIns="27432" anchor="t">
            <a:spAutoFit/>
          </a:bodyPr>
          <a:lstStyle/>
          <a:p>
            <a:pPr algn="ctr"/>
            <a:r>
              <a:rPr sz="1200" b="0">
                <a:solidFill>
                  <a:srgbClr val="BCAAA4"/>
                </a:solidFill>
                <a:latin typeface="Calibri"/>
              </a:rPr>
              <a:t>Casos de prueba</a:t>
            </a:r>
          </a:p>
        </p:txBody>
      </p:sp>
      <p:sp>
        <p:nvSpPr>
          <p:cNvPr id="10" name="Rounded Rectangle 9"/>
          <p:cNvSpPr/>
          <p:nvPr/>
        </p:nvSpPr>
        <p:spPr>
          <a:xfrm>
            <a:off x="3337560" y="1463040"/>
            <a:ext cx="26517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508760"/>
            <a:ext cx="2651760" cy="822960"/>
          </a:xfrm>
          <a:prstGeom prst="rect">
            <a:avLst/>
          </a:prstGeom>
          <a:noFill/>
        </p:spPr>
        <p:txBody>
          <a:bodyPr wrap="square" lIns="45720" rIns="45720" tIns="27432" bIns="27432" anchor="t">
            <a:spAutoFit/>
          </a:bodyPr>
          <a:lstStyle/>
          <a:p>
            <a:pPr algn="ctr"/>
            <a:r>
              <a:rPr sz="4400" b="1">
                <a:solidFill>
                  <a:srgbClr val="A1887F"/>
                </a:solidFill>
                <a:latin typeface="Calibri"/>
              </a:rPr>
              <a:t>35</a:t>
            </a:r>
          </a:p>
        </p:txBody>
      </p:sp>
      <p:sp>
        <p:nvSpPr>
          <p:cNvPr id="12" name="TextBox 11"/>
          <p:cNvSpPr txBox="1"/>
          <p:nvPr/>
        </p:nvSpPr>
        <p:spPr>
          <a:xfrm>
            <a:off x="3337560" y="2331720"/>
            <a:ext cx="2651760" cy="457200"/>
          </a:xfrm>
          <a:prstGeom prst="rect">
            <a:avLst/>
          </a:prstGeom>
          <a:noFill/>
        </p:spPr>
        <p:txBody>
          <a:bodyPr wrap="square" lIns="45720" rIns="45720" tIns="27432" bIns="27432" anchor="t">
            <a:spAutoFit/>
          </a:bodyPr>
          <a:lstStyle/>
          <a:p>
            <a:pPr algn="ctr"/>
            <a:r>
              <a:rPr sz="1200" b="0">
                <a:solidFill>
                  <a:srgbClr val="BCAAA4"/>
                </a:solidFill>
                <a:latin typeface="Calibri"/>
              </a:rPr>
              <a:t>Sprint 1 (HU-01 a HU-04)</a:t>
            </a:r>
          </a:p>
        </p:txBody>
      </p:sp>
      <p:sp>
        <p:nvSpPr>
          <p:cNvPr id="13" name="Rounded Rectangle 12"/>
          <p:cNvSpPr/>
          <p:nvPr/>
        </p:nvSpPr>
        <p:spPr>
          <a:xfrm>
            <a:off x="6126479" y="1463040"/>
            <a:ext cx="26517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1508760"/>
            <a:ext cx="2651760" cy="822960"/>
          </a:xfrm>
          <a:prstGeom prst="rect">
            <a:avLst/>
          </a:prstGeom>
          <a:noFill/>
        </p:spPr>
        <p:txBody>
          <a:bodyPr wrap="square" lIns="45720" rIns="45720" tIns="27432" bIns="27432" anchor="t">
            <a:spAutoFit/>
          </a:bodyPr>
          <a:lstStyle/>
          <a:p>
            <a:pPr algn="ctr"/>
            <a:r>
              <a:rPr sz="4400" b="1">
                <a:solidFill>
                  <a:srgbClr val="66BB6A"/>
                </a:solidFill>
                <a:latin typeface="Calibri"/>
              </a:rPr>
              <a:t>35</a:t>
            </a:r>
          </a:p>
        </p:txBody>
      </p:sp>
      <p:sp>
        <p:nvSpPr>
          <p:cNvPr id="15" name="TextBox 14"/>
          <p:cNvSpPr txBox="1"/>
          <p:nvPr/>
        </p:nvSpPr>
        <p:spPr>
          <a:xfrm>
            <a:off x="6126479" y="2331720"/>
            <a:ext cx="2651760" cy="457200"/>
          </a:xfrm>
          <a:prstGeom prst="rect">
            <a:avLst/>
          </a:prstGeom>
          <a:noFill/>
        </p:spPr>
        <p:txBody>
          <a:bodyPr wrap="square" lIns="45720" rIns="45720" tIns="27432" bIns="27432" anchor="t">
            <a:spAutoFit/>
          </a:bodyPr>
          <a:lstStyle/>
          <a:p>
            <a:pPr algn="ctr"/>
            <a:r>
              <a:rPr sz="1200" b="0">
                <a:solidFill>
                  <a:srgbClr val="BCAAA4"/>
                </a:solidFill>
                <a:latin typeface="Calibri"/>
              </a:rPr>
              <a:t>Por ejecutar</a:t>
            </a:r>
          </a:p>
        </p:txBody>
      </p:sp>
      <p:sp>
        <p:nvSpPr>
          <p:cNvPr id="16" name="Rounded Rectangle 15"/>
          <p:cNvSpPr/>
          <p:nvPr/>
        </p:nvSpPr>
        <p:spPr>
          <a:xfrm>
            <a:off x="8915399" y="1463040"/>
            <a:ext cx="2651760" cy="137160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15399" y="1508760"/>
            <a:ext cx="2651760" cy="822960"/>
          </a:xfrm>
          <a:prstGeom prst="rect">
            <a:avLst/>
          </a:prstGeom>
          <a:noFill/>
        </p:spPr>
        <p:txBody>
          <a:bodyPr wrap="square" lIns="45720" rIns="45720" tIns="27432" bIns="27432" anchor="t">
            <a:spAutoFit/>
          </a:bodyPr>
          <a:lstStyle/>
          <a:p>
            <a:pPr algn="ctr"/>
            <a:r>
              <a:rPr sz="4400" b="1">
                <a:solidFill>
                  <a:srgbClr val="FFB74D"/>
                </a:solidFill>
                <a:latin typeface="Calibri"/>
              </a:rPr>
              <a:t>9</a:t>
            </a:r>
          </a:p>
        </p:txBody>
      </p:sp>
      <p:sp>
        <p:nvSpPr>
          <p:cNvPr id="18" name="TextBox 17"/>
          <p:cNvSpPr txBox="1"/>
          <p:nvPr/>
        </p:nvSpPr>
        <p:spPr>
          <a:xfrm>
            <a:off x="8915399" y="2331720"/>
            <a:ext cx="2651760" cy="457200"/>
          </a:xfrm>
          <a:prstGeom prst="rect">
            <a:avLst/>
          </a:prstGeom>
          <a:noFill/>
        </p:spPr>
        <p:txBody>
          <a:bodyPr wrap="square" lIns="45720" rIns="45720" tIns="27432" bIns="27432" anchor="t">
            <a:spAutoFit/>
          </a:bodyPr>
          <a:lstStyle/>
          <a:p>
            <a:pPr algn="ctr"/>
            <a:r>
              <a:rPr sz="1200" b="0">
                <a:solidFill>
                  <a:srgbClr val="BCAAA4"/>
                </a:solidFill>
                <a:latin typeface="Calibri"/>
              </a:rPr>
              <a:t>Módulo no implementado</a:t>
            </a:r>
          </a:p>
        </p:txBody>
      </p:sp>
      <p:sp>
        <p:nvSpPr>
          <p:cNvPr id="19" name="Rounded Rectangle 18"/>
          <p:cNvSpPr/>
          <p:nvPr/>
        </p:nvSpPr>
        <p:spPr>
          <a:xfrm>
            <a:off x="548640" y="3063240"/>
            <a:ext cx="5486400" cy="315468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154680"/>
            <a:ext cx="5120640" cy="365760"/>
          </a:xfrm>
          <a:prstGeom prst="rect">
            <a:avLst/>
          </a:prstGeom>
          <a:noFill/>
        </p:spPr>
        <p:txBody>
          <a:bodyPr wrap="square" lIns="45720" rIns="45720" tIns="27432" bIns="27432" anchor="t">
            <a:spAutoFit/>
          </a:bodyPr>
          <a:lstStyle/>
          <a:p>
            <a:pPr algn="l"/>
            <a:r>
              <a:rPr sz="1600" b="1">
                <a:solidFill>
                  <a:srgbClr val="66BB6A"/>
                </a:solidFill>
                <a:latin typeface="Calibri"/>
              </a:rPr>
              <a:t>Casos por tipo</a:t>
            </a:r>
          </a:p>
        </p:txBody>
      </p:sp>
      <p:sp>
        <p:nvSpPr>
          <p:cNvPr id="21" name="TextBox 20"/>
          <p:cNvSpPr txBox="1"/>
          <p:nvPr/>
        </p:nvSpPr>
        <p:spPr>
          <a:xfrm>
            <a:off x="731520" y="3611880"/>
            <a:ext cx="1645920" cy="320040"/>
          </a:xfrm>
          <a:prstGeom prst="rect">
            <a:avLst/>
          </a:prstGeom>
          <a:noFill/>
        </p:spPr>
        <p:txBody>
          <a:bodyPr wrap="square" lIns="45720" rIns="45720" tIns="27432" bIns="27432" anchor="t">
            <a:spAutoFit/>
          </a:bodyPr>
          <a:lstStyle/>
          <a:p>
            <a:pPr algn="l"/>
            <a:r>
              <a:rPr sz="1300" b="0">
                <a:solidFill>
                  <a:srgbClr val="F3E9E2"/>
                </a:solidFill>
                <a:latin typeface="Calibri"/>
              </a:rPr>
              <a:t>unitario</a:t>
            </a:r>
          </a:p>
        </p:txBody>
      </p:sp>
      <p:sp>
        <p:nvSpPr>
          <p:cNvPr id="22" name="Rounded Rectangle 21"/>
          <p:cNvSpPr/>
          <p:nvPr/>
        </p:nvSpPr>
        <p:spPr>
          <a:xfrm>
            <a:off x="2423160" y="3657600"/>
            <a:ext cx="2743200" cy="228600"/>
          </a:xfrm>
          <a:prstGeom prst="roundRect">
            <a:avLst>
              <a:gd name="adj" fmla="val 30000"/>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3611880"/>
            <a:ext cx="548640" cy="320040"/>
          </a:xfrm>
          <a:prstGeom prst="rect">
            <a:avLst/>
          </a:prstGeom>
          <a:noFill/>
        </p:spPr>
        <p:txBody>
          <a:bodyPr wrap="square" lIns="45720" rIns="45720" tIns="27432" bIns="27432" anchor="t">
            <a:spAutoFit/>
          </a:bodyPr>
          <a:lstStyle/>
          <a:p>
            <a:pPr algn="l"/>
            <a:r>
              <a:rPr sz="1300" b="0">
                <a:solidFill>
                  <a:srgbClr val="BCAAA4"/>
                </a:solidFill>
                <a:latin typeface="Calibri"/>
              </a:rPr>
              <a:t>17</a:t>
            </a:r>
          </a:p>
        </p:txBody>
      </p:sp>
      <p:sp>
        <p:nvSpPr>
          <p:cNvPr id="24" name="TextBox 23"/>
          <p:cNvSpPr txBox="1"/>
          <p:nvPr/>
        </p:nvSpPr>
        <p:spPr>
          <a:xfrm>
            <a:off x="731520" y="4023360"/>
            <a:ext cx="1645920" cy="320040"/>
          </a:xfrm>
          <a:prstGeom prst="rect">
            <a:avLst/>
          </a:prstGeom>
          <a:noFill/>
        </p:spPr>
        <p:txBody>
          <a:bodyPr wrap="square" lIns="45720" rIns="45720" tIns="27432" bIns="27432" anchor="t">
            <a:spAutoFit/>
          </a:bodyPr>
          <a:lstStyle/>
          <a:p>
            <a:pPr algn="l"/>
            <a:r>
              <a:rPr sz="1300" b="0">
                <a:solidFill>
                  <a:srgbClr val="F3E9E2"/>
                </a:solidFill>
                <a:latin typeface="Calibri"/>
              </a:rPr>
              <a:t>de integración</a:t>
            </a:r>
          </a:p>
        </p:txBody>
      </p:sp>
      <p:sp>
        <p:nvSpPr>
          <p:cNvPr id="25" name="Rounded Rectangle 24"/>
          <p:cNvSpPr/>
          <p:nvPr/>
        </p:nvSpPr>
        <p:spPr>
          <a:xfrm>
            <a:off x="2423160" y="4069080"/>
            <a:ext cx="2097741" cy="228600"/>
          </a:xfrm>
          <a:prstGeom prst="roundRect">
            <a:avLst>
              <a:gd name="adj" fmla="val 30000"/>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6621" y="4023360"/>
            <a:ext cx="548640" cy="320040"/>
          </a:xfrm>
          <a:prstGeom prst="rect">
            <a:avLst/>
          </a:prstGeom>
          <a:noFill/>
        </p:spPr>
        <p:txBody>
          <a:bodyPr wrap="square" lIns="45720" rIns="45720" tIns="27432" bIns="27432" anchor="t">
            <a:spAutoFit/>
          </a:bodyPr>
          <a:lstStyle/>
          <a:p>
            <a:pPr algn="l"/>
            <a:r>
              <a:rPr sz="1300" b="0">
                <a:solidFill>
                  <a:srgbClr val="BCAAA4"/>
                </a:solidFill>
                <a:latin typeface="Calibri"/>
              </a:rPr>
              <a:t>13</a:t>
            </a:r>
          </a:p>
        </p:txBody>
      </p:sp>
      <p:sp>
        <p:nvSpPr>
          <p:cNvPr id="27" name="TextBox 26"/>
          <p:cNvSpPr txBox="1"/>
          <p:nvPr/>
        </p:nvSpPr>
        <p:spPr>
          <a:xfrm>
            <a:off x="731520" y="4434840"/>
            <a:ext cx="1645920" cy="320040"/>
          </a:xfrm>
          <a:prstGeom prst="rect">
            <a:avLst/>
          </a:prstGeom>
          <a:noFill/>
        </p:spPr>
        <p:txBody>
          <a:bodyPr wrap="square" lIns="45720" rIns="45720" tIns="27432" bIns="27432" anchor="t">
            <a:spAutoFit/>
          </a:bodyPr>
          <a:lstStyle/>
          <a:p>
            <a:pPr algn="l"/>
            <a:r>
              <a:rPr sz="1300" b="0">
                <a:solidFill>
                  <a:srgbClr val="F3E9E2"/>
                </a:solidFill>
                <a:latin typeface="Calibri"/>
              </a:rPr>
              <a:t>de seguridad</a:t>
            </a:r>
          </a:p>
        </p:txBody>
      </p:sp>
      <p:sp>
        <p:nvSpPr>
          <p:cNvPr id="28" name="Rounded Rectangle 27"/>
          <p:cNvSpPr/>
          <p:nvPr/>
        </p:nvSpPr>
        <p:spPr>
          <a:xfrm>
            <a:off x="2423160" y="4480560"/>
            <a:ext cx="968188" cy="228600"/>
          </a:xfrm>
          <a:prstGeom prst="roundRect">
            <a:avLst>
              <a:gd name="adj" fmla="val 30000"/>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37068" y="4434840"/>
            <a:ext cx="548640" cy="320040"/>
          </a:xfrm>
          <a:prstGeom prst="rect">
            <a:avLst/>
          </a:prstGeom>
          <a:noFill/>
        </p:spPr>
        <p:txBody>
          <a:bodyPr wrap="square" lIns="45720" rIns="45720" tIns="27432" bIns="27432" anchor="t">
            <a:spAutoFit/>
          </a:bodyPr>
          <a:lstStyle/>
          <a:p>
            <a:pPr algn="l"/>
            <a:r>
              <a:rPr sz="1300" b="0">
                <a:solidFill>
                  <a:srgbClr val="BCAAA4"/>
                </a:solidFill>
                <a:latin typeface="Calibri"/>
              </a:rPr>
              <a:t>6</a:t>
            </a:r>
          </a:p>
        </p:txBody>
      </p:sp>
      <p:sp>
        <p:nvSpPr>
          <p:cNvPr id="30" name="TextBox 29"/>
          <p:cNvSpPr txBox="1"/>
          <p:nvPr/>
        </p:nvSpPr>
        <p:spPr>
          <a:xfrm>
            <a:off x="731520" y="4846320"/>
            <a:ext cx="1645920" cy="320040"/>
          </a:xfrm>
          <a:prstGeom prst="rect">
            <a:avLst/>
          </a:prstGeom>
          <a:noFill/>
        </p:spPr>
        <p:txBody>
          <a:bodyPr wrap="square" lIns="45720" rIns="45720" tIns="27432" bIns="27432" anchor="t">
            <a:spAutoFit/>
          </a:bodyPr>
          <a:lstStyle/>
          <a:p>
            <a:pPr algn="l"/>
            <a:r>
              <a:rPr sz="1300" b="0">
                <a:solidFill>
                  <a:srgbClr val="F3E9E2"/>
                </a:solidFill>
                <a:latin typeface="Calibri"/>
              </a:rPr>
              <a:t>del sistema</a:t>
            </a:r>
          </a:p>
        </p:txBody>
      </p:sp>
      <p:sp>
        <p:nvSpPr>
          <p:cNvPr id="31" name="Rounded Rectangle 30"/>
          <p:cNvSpPr/>
          <p:nvPr/>
        </p:nvSpPr>
        <p:spPr>
          <a:xfrm>
            <a:off x="2423160" y="4892040"/>
            <a:ext cx="968188" cy="228600"/>
          </a:xfrm>
          <a:prstGeom prst="roundRect">
            <a:avLst>
              <a:gd name="adj" fmla="val 30000"/>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37068" y="4846320"/>
            <a:ext cx="548640" cy="320040"/>
          </a:xfrm>
          <a:prstGeom prst="rect">
            <a:avLst/>
          </a:prstGeom>
          <a:noFill/>
        </p:spPr>
        <p:txBody>
          <a:bodyPr wrap="square" lIns="45720" rIns="45720" tIns="27432" bIns="27432" anchor="t">
            <a:spAutoFit/>
          </a:bodyPr>
          <a:lstStyle/>
          <a:p>
            <a:pPr algn="l"/>
            <a:r>
              <a:rPr sz="1300" b="0">
                <a:solidFill>
                  <a:srgbClr val="BCAAA4"/>
                </a:solidFill>
                <a:latin typeface="Calibri"/>
              </a:rPr>
              <a:t>6</a:t>
            </a:r>
          </a:p>
        </p:txBody>
      </p:sp>
      <p:sp>
        <p:nvSpPr>
          <p:cNvPr id="33" name="TextBox 32"/>
          <p:cNvSpPr txBox="1"/>
          <p:nvPr/>
        </p:nvSpPr>
        <p:spPr>
          <a:xfrm>
            <a:off x="731520" y="5257800"/>
            <a:ext cx="1645920" cy="320040"/>
          </a:xfrm>
          <a:prstGeom prst="rect">
            <a:avLst/>
          </a:prstGeom>
          <a:noFill/>
        </p:spPr>
        <p:txBody>
          <a:bodyPr wrap="square" lIns="45720" rIns="45720" tIns="27432" bIns="27432" anchor="t">
            <a:spAutoFit/>
          </a:bodyPr>
          <a:lstStyle/>
          <a:p>
            <a:pPr algn="l"/>
            <a:r>
              <a:rPr sz="1300" b="0">
                <a:solidFill>
                  <a:srgbClr val="F3E9E2"/>
                </a:solidFill>
                <a:latin typeface="Calibri"/>
              </a:rPr>
              <a:t>de usabilidad</a:t>
            </a:r>
          </a:p>
        </p:txBody>
      </p:sp>
      <p:sp>
        <p:nvSpPr>
          <p:cNvPr id="34" name="Rounded Rectangle 33"/>
          <p:cNvSpPr/>
          <p:nvPr/>
        </p:nvSpPr>
        <p:spPr>
          <a:xfrm>
            <a:off x="2423160" y="5303520"/>
            <a:ext cx="161364" cy="228600"/>
          </a:xfrm>
          <a:prstGeom prst="roundRect">
            <a:avLst>
              <a:gd name="adj" fmla="val 30000"/>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30244" y="5257800"/>
            <a:ext cx="548640" cy="320040"/>
          </a:xfrm>
          <a:prstGeom prst="rect">
            <a:avLst/>
          </a:prstGeom>
          <a:noFill/>
        </p:spPr>
        <p:txBody>
          <a:bodyPr wrap="square" lIns="45720" rIns="45720" tIns="27432" bIns="27432" anchor="t">
            <a:spAutoFit/>
          </a:bodyPr>
          <a:lstStyle/>
          <a:p>
            <a:pPr algn="l"/>
            <a:r>
              <a:rPr sz="1300" b="0">
                <a:solidFill>
                  <a:srgbClr val="BCAAA4"/>
                </a:solidFill>
                <a:latin typeface="Calibri"/>
              </a:rPr>
              <a:t>1</a:t>
            </a:r>
          </a:p>
        </p:txBody>
      </p:sp>
      <p:sp>
        <p:nvSpPr>
          <p:cNvPr id="36" name="TextBox 35"/>
          <p:cNvSpPr txBox="1"/>
          <p:nvPr/>
        </p:nvSpPr>
        <p:spPr>
          <a:xfrm>
            <a:off x="731520" y="5669280"/>
            <a:ext cx="1645920" cy="320040"/>
          </a:xfrm>
          <a:prstGeom prst="rect">
            <a:avLst/>
          </a:prstGeom>
          <a:noFill/>
        </p:spPr>
        <p:txBody>
          <a:bodyPr wrap="square" lIns="45720" rIns="45720" tIns="27432" bIns="27432" anchor="t">
            <a:spAutoFit/>
          </a:bodyPr>
          <a:lstStyle/>
          <a:p>
            <a:pPr algn="l"/>
            <a:r>
              <a:rPr sz="1300" b="0">
                <a:solidFill>
                  <a:srgbClr val="F3E9E2"/>
                </a:solidFill>
                <a:latin typeface="Calibri"/>
              </a:rPr>
              <a:t>de aceptación</a:t>
            </a:r>
          </a:p>
        </p:txBody>
      </p:sp>
      <p:sp>
        <p:nvSpPr>
          <p:cNvPr id="37" name="Rounded Rectangle 36"/>
          <p:cNvSpPr/>
          <p:nvPr/>
        </p:nvSpPr>
        <p:spPr>
          <a:xfrm>
            <a:off x="2423160" y="5715000"/>
            <a:ext cx="161364" cy="228600"/>
          </a:xfrm>
          <a:prstGeom prst="roundRect">
            <a:avLst>
              <a:gd name="adj" fmla="val 30000"/>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30244" y="5669280"/>
            <a:ext cx="548640" cy="320040"/>
          </a:xfrm>
          <a:prstGeom prst="rect">
            <a:avLst/>
          </a:prstGeom>
          <a:noFill/>
        </p:spPr>
        <p:txBody>
          <a:bodyPr wrap="square" lIns="45720" rIns="45720" tIns="27432" bIns="27432" anchor="t">
            <a:spAutoFit/>
          </a:bodyPr>
          <a:lstStyle/>
          <a:p>
            <a:pPr algn="l"/>
            <a:r>
              <a:rPr sz="1300" b="0">
                <a:solidFill>
                  <a:srgbClr val="BCAAA4"/>
                </a:solidFill>
                <a:latin typeface="Calibri"/>
              </a:rPr>
              <a:t>1</a:t>
            </a:r>
          </a:p>
        </p:txBody>
      </p:sp>
      <p:sp>
        <p:nvSpPr>
          <p:cNvPr id="39" name="Rounded Rectangle 38"/>
          <p:cNvSpPr/>
          <p:nvPr/>
        </p:nvSpPr>
        <p:spPr>
          <a:xfrm>
            <a:off x="6217920" y="3063240"/>
            <a:ext cx="5440680" cy="315468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3154680"/>
            <a:ext cx="5029200" cy="365760"/>
          </a:xfrm>
          <a:prstGeom prst="rect">
            <a:avLst/>
          </a:prstGeom>
          <a:noFill/>
        </p:spPr>
        <p:txBody>
          <a:bodyPr wrap="square" lIns="45720" rIns="45720" tIns="27432" bIns="27432" anchor="t">
            <a:spAutoFit/>
          </a:bodyPr>
          <a:lstStyle/>
          <a:p>
            <a:pPr algn="l"/>
            <a:r>
              <a:rPr sz="1600" b="1">
                <a:solidFill>
                  <a:srgbClr val="66BB6A"/>
                </a:solidFill>
                <a:latin typeface="Calibri"/>
              </a:rPr>
              <a:t>Estado de ejecución</a:t>
            </a:r>
          </a:p>
        </p:txBody>
      </p:sp>
      <p:sp>
        <p:nvSpPr>
          <p:cNvPr id="41" name="TextBox 40"/>
          <p:cNvSpPr txBox="1"/>
          <p:nvPr/>
        </p:nvSpPr>
        <p:spPr>
          <a:xfrm>
            <a:off x="6400800" y="3611880"/>
            <a:ext cx="5120640" cy="2560320"/>
          </a:xfrm>
          <a:prstGeom prst="rect">
            <a:avLst/>
          </a:prstGeom>
          <a:noFill/>
        </p:spPr>
        <p:txBody>
          <a:bodyPr wrap="square" lIns="45720">
            <a:spAutoFit/>
          </a:bodyPr>
          <a:lstStyle/>
          <a:p>
            <a:pPr>
              <a:spcAft>
                <a:spcPts val="800"/>
              </a:spcAft>
            </a:pPr>
            <a:r>
              <a:rPr sz="900">
                <a:solidFill>
                  <a:srgbClr val="66BB6A"/>
                </a:solidFill>
                <a:latin typeface="Calibri"/>
              </a:rPr>
              <a:t>● </a:t>
            </a:r>
            <a:r>
              <a:rPr b="1" sz="1400">
                <a:solidFill>
                  <a:srgbClr val="F3E9E2"/>
                </a:solidFill>
                <a:latin typeface="Calibri"/>
              </a:rPr>
              <a:t>Ejecutados: </a:t>
            </a:r>
            <a:r>
              <a:rPr sz="1400">
                <a:solidFill>
                  <a:srgbClr val="BCAAA4"/>
                </a:solidFill>
                <a:latin typeface="Calibri"/>
              </a:rPr>
              <a:t>0 · pendiente de ejecución</a:t>
            </a:r>
          </a:p>
          <a:p>
            <a:pPr>
              <a:spcAft>
                <a:spcPts val="800"/>
              </a:spcAft>
            </a:pPr>
            <a:r>
              <a:rPr sz="900">
                <a:solidFill>
                  <a:srgbClr val="66BB6A"/>
                </a:solidFill>
                <a:latin typeface="Calibri"/>
              </a:rPr>
              <a:t>● </a:t>
            </a:r>
            <a:r>
              <a:rPr b="1" sz="1400">
                <a:solidFill>
                  <a:srgbClr val="F3E9E2"/>
                </a:solidFill>
                <a:latin typeface="Calibri"/>
              </a:rPr>
              <a:t>Por ejecutar: </a:t>
            </a:r>
            <a:r>
              <a:rPr sz="1400">
                <a:solidFill>
                  <a:srgbClr val="BCAAA4"/>
                </a:solidFill>
                <a:latin typeface="Calibri"/>
              </a:rPr>
              <a:t>35 casos (HU-01 a HU-04)</a:t>
            </a:r>
          </a:p>
          <a:p>
            <a:pPr>
              <a:spcAft>
                <a:spcPts val="800"/>
              </a:spcAft>
            </a:pPr>
            <a:r>
              <a:rPr sz="900">
                <a:solidFill>
                  <a:srgbClr val="66BB6A"/>
                </a:solidFill>
                <a:latin typeface="Calibri"/>
              </a:rPr>
              <a:t>● </a:t>
            </a:r>
            <a:r>
              <a:rPr b="1" sz="1400">
                <a:solidFill>
                  <a:srgbClr val="F3E9E2"/>
                </a:solidFill>
                <a:latin typeface="Calibri"/>
              </a:rPr>
              <a:t>Pendientes: </a:t>
            </a:r>
            <a:r>
              <a:rPr sz="1400">
                <a:solidFill>
                  <a:srgbClr val="BCAAA4"/>
                </a:solidFill>
                <a:latin typeface="Calibri"/>
              </a:rPr>
              <a:t>9 casos de módulos no implementados</a:t>
            </a:r>
          </a:p>
          <a:p>
            <a:pPr>
              <a:spcAft>
                <a:spcPts val="800"/>
              </a:spcAft>
            </a:pPr>
            <a:r>
              <a:rPr sz="900">
                <a:solidFill>
                  <a:srgbClr val="66BB6A"/>
                </a:solidFill>
                <a:latin typeface="Calibri"/>
              </a:rPr>
              <a:t>● </a:t>
            </a:r>
            <a:r>
              <a:rPr b="1" sz="1400">
                <a:solidFill>
                  <a:srgbClr val="F3E9E2"/>
                </a:solidFill>
                <a:latin typeface="Calibri"/>
              </a:rPr>
              <a:t>Seguridad: </a:t>
            </a:r>
            <a:r>
              <a:rPr sz="1400">
                <a:solidFill>
                  <a:srgbClr val="BCAAA4"/>
                </a:solidFill>
                <a:latin typeface="Calibri"/>
              </a:rPr>
              <a:t>6 casos (BCrypt, rol, SQL injection)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Demo del prototipo</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Login → Dashboard → Clientes, Productos e Inventario → Nueva Exportación → Reportes</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9</a:t>
            </a:r>
          </a:p>
        </p:txBody>
      </p:sp>
      <p:sp>
        <p:nvSpPr>
          <p:cNvPr id="7" name="Rounded Rectangle 6"/>
          <p:cNvSpPr/>
          <p:nvPr/>
        </p:nvSpPr>
        <p:spPr>
          <a:xfrm>
            <a:off x="548640" y="1463040"/>
            <a:ext cx="11109960" cy="8229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600200"/>
            <a:ext cx="548640" cy="54864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00200"/>
            <a:ext cx="548640" cy="548640"/>
          </a:xfrm>
          <a:prstGeom prst="rect">
            <a:avLst/>
          </a:prstGeom>
          <a:noFill/>
        </p:spPr>
        <p:txBody>
          <a:bodyPr wrap="square" lIns="45720" rIns="45720" tIns="27432" bIns="27432" anchor="ctr">
            <a:spAutoFit/>
          </a:bodyPr>
          <a:lstStyle/>
          <a:p>
            <a:pPr algn="ctr"/>
            <a:r>
              <a:rPr sz="2000" b="1">
                <a:solidFill>
                  <a:srgbClr val="15110F"/>
                </a:solidFill>
                <a:latin typeface="Calibri"/>
              </a:rPr>
              <a:t>1</a:t>
            </a:r>
          </a:p>
        </p:txBody>
      </p:sp>
      <p:sp>
        <p:nvSpPr>
          <p:cNvPr id="10" name="TextBox 9"/>
          <p:cNvSpPr txBox="1"/>
          <p:nvPr/>
        </p:nvSpPr>
        <p:spPr>
          <a:xfrm>
            <a:off x="1463040" y="1554480"/>
            <a:ext cx="3566160" cy="640080"/>
          </a:xfrm>
          <a:prstGeom prst="rect">
            <a:avLst/>
          </a:prstGeom>
          <a:noFill/>
        </p:spPr>
        <p:txBody>
          <a:bodyPr wrap="square" lIns="45720" rIns="45720" tIns="27432" bIns="27432" anchor="ctr">
            <a:spAutoFit/>
          </a:bodyPr>
          <a:lstStyle/>
          <a:p>
            <a:pPr algn="l"/>
            <a:r>
              <a:rPr sz="1700" b="1">
                <a:solidFill>
                  <a:srgbClr val="F3E9E2"/>
                </a:solidFill>
                <a:latin typeface="Calibri"/>
              </a:rPr>
              <a:t>Login</a:t>
            </a:r>
          </a:p>
        </p:txBody>
      </p:sp>
      <p:sp>
        <p:nvSpPr>
          <p:cNvPr id="11" name="TextBox 10"/>
          <p:cNvSpPr txBox="1"/>
          <p:nvPr/>
        </p:nvSpPr>
        <p:spPr>
          <a:xfrm>
            <a:off x="5120640" y="1554480"/>
            <a:ext cx="6400800" cy="640080"/>
          </a:xfrm>
          <a:prstGeom prst="rect">
            <a:avLst/>
          </a:prstGeom>
          <a:noFill/>
        </p:spPr>
        <p:txBody>
          <a:bodyPr wrap="square" lIns="45720" rIns="45720" tIns="27432" bIns="27432" anchor="ctr">
            <a:spAutoFit/>
          </a:bodyPr>
          <a:lstStyle/>
          <a:p>
            <a:pPr algn="l"/>
            <a:r>
              <a:rPr sz="1400" b="0">
                <a:solidFill>
                  <a:srgbClr val="BCAAA4"/>
                </a:solidFill>
                <a:latin typeface="Calibri"/>
              </a:rPr>
              <a:t>Credenciales inválidas → mensaje genérico; ingreso con usuario de prueba</a:t>
            </a:r>
          </a:p>
        </p:txBody>
      </p:sp>
      <p:sp>
        <p:nvSpPr>
          <p:cNvPr id="12" name="Rounded Rectangle 11"/>
          <p:cNvSpPr/>
          <p:nvPr/>
        </p:nvSpPr>
        <p:spPr>
          <a:xfrm>
            <a:off x="548640" y="2395728"/>
            <a:ext cx="11109960" cy="8229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5800" y="2532888"/>
            <a:ext cx="548640" cy="54864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532888"/>
            <a:ext cx="548640" cy="548640"/>
          </a:xfrm>
          <a:prstGeom prst="rect">
            <a:avLst/>
          </a:prstGeom>
          <a:noFill/>
        </p:spPr>
        <p:txBody>
          <a:bodyPr wrap="square" lIns="45720" rIns="45720" tIns="27432" bIns="27432" anchor="ctr">
            <a:spAutoFit/>
          </a:bodyPr>
          <a:lstStyle/>
          <a:p>
            <a:pPr algn="ctr"/>
            <a:r>
              <a:rPr sz="2000" b="1">
                <a:solidFill>
                  <a:srgbClr val="15110F"/>
                </a:solidFill>
                <a:latin typeface="Calibri"/>
              </a:rPr>
              <a:t>2</a:t>
            </a:r>
          </a:p>
        </p:txBody>
      </p:sp>
      <p:sp>
        <p:nvSpPr>
          <p:cNvPr id="15" name="TextBox 14"/>
          <p:cNvSpPr txBox="1"/>
          <p:nvPr/>
        </p:nvSpPr>
        <p:spPr>
          <a:xfrm>
            <a:off x="1463040" y="2487168"/>
            <a:ext cx="3566160" cy="640080"/>
          </a:xfrm>
          <a:prstGeom prst="rect">
            <a:avLst/>
          </a:prstGeom>
          <a:noFill/>
        </p:spPr>
        <p:txBody>
          <a:bodyPr wrap="square" lIns="45720" rIns="45720" tIns="27432" bIns="27432" anchor="ctr">
            <a:spAutoFit/>
          </a:bodyPr>
          <a:lstStyle/>
          <a:p>
            <a:pPr algn="l"/>
            <a:r>
              <a:rPr sz="1700" b="1">
                <a:solidFill>
                  <a:srgbClr val="F3E9E2"/>
                </a:solidFill>
                <a:latin typeface="Calibri"/>
              </a:rPr>
              <a:t>Dashboard</a:t>
            </a:r>
          </a:p>
        </p:txBody>
      </p:sp>
      <p:sp>
        <p:nvSpPr>
          <p:cNvPr id="16" name="TextBox 15"/>
          <p:cNvSpPr txBox="1"/>
          <p:nvPr/>
        </p:nvSpPr>
        <p:spPr>
          <a:xfrm>
            <a:off x="5120640" y="2487168"/>
            <a:ext cx="6400800" cy="640080"/>
          </a:xfrm>
          <a:prstGeom prst="rect">
            <a:avLst/>
          </a:prstGeom>
          <a:noFill/>
        </p:spPr>
        <p:txBody>
          <a:bodyPr wrap="square" lIns="45720" rIns="45720" tIns="27432" bIns="27432" anchor="ctr">
            <a:spAutoFit/>
          </a:bodyPr>
          <a:lstStyle/>
          <a:p>
            <a:pPr algn="l"/>
            <a:r>
              <a:rPr sz="1400" b="0">
                <a:solidFill>
                  <a:srgbClr val="BCAAA4"/>
                </a:solidFill>
                <a:latin typeface="Calibri"/>
              </a:rPr>
              <a:t>KPIs, exportaciones por país, productos más vendidos, últimas exportaciones</a:t>
            </a:r>
          </a:p>
        </p:txBody>
      </p:sp>
      <p:sp>
        <p:nvSpPr>
          <p:cNvPr id="17" name="Rounded Rectangle 16"/>
          <p:cNvSpPr/>
          <p:nvPr/>
        </p:nvSpPr>
        <p:spPr>
          <a:xfrm>
            <a:off x="548640" y="3328416"/>
            <a:ext cx="11109960" cy="8229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 y="3465576"/>
            <a:ext cx="548640" cy="54864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65576"/>
            <a:ext cx="548640" cy="548640"/>
          </a:xfrm>
          <a:prstGeom prst="rect">
            <a:avLst/>
          </a:prstGeom>
          <a:noFill/>
        </p:spPr>
        <p:txBody>
          <a:bodyPr wrap="square" lIns="45720" rIns="45720" tIns="27432" bIns="27432" anchor="ctr">
            <a:spAutoFit/>
          </a:bodyPr>
          <a:lstStyle/>
          <a:p>
            <a:pPr algn="ctr"/>
            <a:r>
              <a:rPr sz="2000" b="1">
                <a:solidFill>
                  <a:srgbClr val="15110F"/>
                </a:solidFill>
                <a:latin typeface="Calibri"/>
              </a:rPr>
              <a:t>3</a:t>
            </a:r>
          </a:p>
        </p:txBody>
      </p:sp>
      <p:sp>
        <p:nvSpPr>
          <p:cNvPr id="20" name="TextBox 19"/>
          <p:cNvSpPr txBox="1"/>
          <p:nvPr/>
        </p:nvSpPr>
        <p:spPr>
          <a:xfrm>
            <a:off x="1463040" y="3419856"/>
            <a:ext cx="3566160" cy="640080"/>
          </a:xfrm>
          <a:prstGeom prst="rect">
            <a:avLst/>
          </a:prstGeom>
          <a:noFill/>
        </p:spPr>
        <p:txBody>
          <a:bodyPr wrap="square" lIns="45720" rIns="45720" tIns="27432" bIns="27432" anchor="ctr">
            <a:spAutoFit/>
          </a:bodyPr>
          <a:lstStyle/>
          <a:p>
            <a:pPr algn="l"/>
            <a:r>
              <a:rPr sz="1700" b="1">
                <a:solidFill>
                  <a:srgbClr val="F3E9E2"/>
                </a:solidFill>
                <a:latin typeface="Calibri"/>
              </a:rPr>
              <a:t>Clientes · Productos · Inventario</a:t>
            </a:r>
          </a:p>
        </p:txBody>
      </p:sp>
      <p:sp>
        <p:nvSpPr>
          <p:cNvPr id="21" name="TextBox 20"/>
          <p:cNvSpPr txBox="1"/>
          <p:nvPr/>
        </p:nvSpPr>
        <p:spPr>
          <a:xfrm>
            <a:off x="5120640" y="3419856"/>
            <a:ext cx="6400800" cy="640080"/>
          </a:xfrm>
          <a:prstGeom prst="rect">
            <a:avLst/>
          </a:prstGeom>
          <a:noFill/>
        </p:spPr>
        <p:txBody>
          <a:bodyPr wrap="square" lIns="45720" rIns="45720" tIns="27432" bIns="27432" anchor="ctr">
            <a:spAutoFit/>
          </a:bodyPr>
          <a:lstStyle/>
          <a:p>
            <a:pPr algn="l"/>
            <a:r>
              <a:rPr sz="1400" b="0">
                <a:solidFill>
                  <a:srgbClr val="BCAAA4"/>
                </a:solidFill>
                <a:latin typeface="Calibri"/>
              </a:rPr>
              <a:t>Registro de cliente UE, catálogo y stock por bodega</a:t>
            </a:r>
          </a:p>
        </p:txBody>
      </p:sp>
      <p:sp>
        <p:nvSpPr>
          <p:cNvPr id="22" name="Rounded Rectangle 21"/>
          <p:cNvSpPr/>
          <p:nvPr/>
        </p:nvSpPr>
        <p:spPr>
          <a:xfrm>
            <a:off x="548640" y="4261104"/>
            <a:ext cx="11109960" cy="8229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5800" y="4398264"/>
            <a:ext cx="548640" cy="54864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398264"/>
            <a:ext cx="548640" cy="548640"/>
          </a:xfrm>
          <a:prstGeom prst="rect">
            <a:avLst/>
          </a:prstGeom>
          <a:noFill/>
        </p:spPr>
        <p:txBody>
          <a:bodyPr wrap="square" lIns="45720" rIns="45720" tIns="27432" bIns="27432" anchor="ctr">
            <a:spAutoFit/>
          </a:bodyPr>
          <a:lstStyle/>
          <a:p>
            <a:pPr algn="ctr"/>
            <a:r>
              <a:rPr sz="2000" b="1">
                <a:solidFill>
                  <a:srgbClr val="15110F"/>
                </a:solidFill>
                <a:latin typeface="Calibri"/>
              </a:rPr>
              <a:t>4</a:t>
            </a:r>
          </a:p>
        </p:txBody>
      </p:sp>
      <p:sp>
        <p:nvSpPr>
          <p:cNvPr id="25" name="TextBox 24"/>
          <p:cNvSpPr txBox="1"/>
          <p:nvPr/>
        </p:nvSpPr>
        <p:spPr>
          <a:xfrm>
            <a:off x="1463040" y="4352544"/>
            <a:ext cx="3566160" cy="640080"/>
          </a:xfrm>
          <a:prstGeom prst="rect">
            <a:avLst/>
          </a:prstGeom>
          <a:noFill/>
        </p:spPr>
        <p:txBody>
          <a:bodyPr wrap="square" lIns="45720" rIns="45720" tIns="27432" bIns="27432" anchor="ctr">
            <a:spAutoFit/>
          </a:bodyPr>
          <a:lstStyle/>
          <a:p>
            <a:pPr algn="l"/>
            <a:r>
              <a:rPr sz="1700" b="1">
                <a:solidFill>
                  <a:srgbClr val="F3E9E2"/>
                </a:solidFill>
                <a:latin typeface="Calibri"/>
              </a:rPr>
              <a:t>Nueva Exportación</a:t>
            </a:r>
          </a:p>
        </p:txBody>
      </p:sp>
      <p:sp>
        <p:nvSpPr>
          <p:cNvPr id="26" name="TextBox 25"/>
          <p:cNvSpPr txBox="1"/>
          <p:nvPr/>
        </p:nvSpPr>
        <p:spPr>
          <a:xfrm>
            <a:off x="5120640" y="4352544"/>
            <a:ext cx="6400800" cy="640080"/>
          </a:xfrm>
          <a:prstGeom prst="rect">
            <a:avLst/>
          </a:prstGeom>
          <a:noFill/>
        </p:spPr>
        <p:txBody>
          <a:bodyPr wrap="square" lIns="45720" rIns="45720" tIns="27432" bIns="27432" anchor="ctr">
            <a:spAutoFit/>
          </a:bodyPr>
          <a:lstStyle/>
          <a:p>
            <a:pPr algn="l"/>
            <a:r>
              <a:rPr sz="1400" b="0">
                <a:solidFill>
                  <a:srgbClr val="BCAAA4"/>
                </a:solidFill>
                <a:latin typeface="Calibri"/>
              </a:rPr>
              <a:t>Asistente de 4 pasos: básica, cliente y destino, productos, documentos</a:t>
            </a:r>
          </a:p>
        </p:txBody>
      </p:sp>
      <p:sp>
        <p:nvSpPr>
          <p:cNvPr id="27" name="Rounded Rectangle 26"/>
          <p:cNvSpPr/>
          <p:nvPr/>
        </p:nvSpPr>
        <p:spPr>
          <a:xfrm>
            <a:off x="548640" y="5193792"/>
            <a:ext cx="11109960" cy="822960"/>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 y="5330952"/>
            <a:ext cx="548640" cy="54864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330952"/>
            <a:ext cx="548640" cy="548640"/>
          </a:xfrm>
          <a:prstGeom prst="rect">
            <a:avLst/>
          </a:prstGeom>
          <a:noFill/>
        </p:spPr>
        <p:txBody>
          <a:bodyPr wrap="square" lIns="45720" rIns="45720" tIns="27432" bIns="27432" anchor="ctr">
            <a:spAutoFit/>
          </a:bodyPr>
          <a:lstStyle/>
          <a:p>
            <a:pPr algn="ctr"/>
            <a:r>
              <a:rPr sz="2000" b="1">
                <a:solidFill>
                  <a:srgbClr val="15110F"/>
                </a:solidFill>
                <a:latin typeface="Calibri"/>
              </a:rPr>
              <a:t>5</a:t>
            </a:r>
          </a:p>
        </p:txBody>
      </p:sp>
      <p:sp>
        <p:nvSpPr>
          <p:cNvPr id="30" name="TextBox 29"/>
          <p:cNvSpPr txBox="1"/>
          <p:nvPr/>
        </p:nvSpPr>
        <p:spPr>
          <a:xfrm>
            <a:off x="1463040" y="5285231"/>
            <a:ext cx="3566160" cy="640080"/>
          </a:xfrm>
          <a:prstGeom prst="rect">
            <a:avLst/>
          </a:prstGeom>
          <a:noFill/>
        </p:spPr>
        <p:txBody>
          <a:bodyPr wrap="square" lIns="45720" rIns="45720" tIns="27432" bIns="27432" anchor="ctr">
            <a:spAutoFit/>
          </a:bodyPr>
          <a:lstStyle/>
          <a:p>
            <a:pPr algn="l"/>
            <a:r>
              <a:rPr sz="1700" b="1">
                <a:solidFill>
                  <a:srgbClr val="F3E9E2"/>
                </a:solidFill>
                <a:latin typeface="Calibri"/>
              </a:rPr>
              <a:t>Reportes</a:t>
            </a:r>
          </a:p>
        </p:txBody>
      </p:sp>
      <p:sp>
        <p:nvSpPr>
          <p:cNvPr id="31" name="TextBox 30"/>
          <p:cNvSpPr txBox="1"/>
          <p:nvPr/>
        </p:nvSpPr>
        <p:spPr>
          <a:xfrm>
            <a:off x="5120640" y="5285231"/>
            <a:ext cx="6400800" cy="640080"/>
          </a:xfrm>
          <a:prstGeom prst="rect">
            <a:avLst/>
          </a:prstGeom>
          <a:noFill/>
        </p:spPr>
        <p:txBody>
          <a:bodyPr wrap="square" lIns="45720" rIns="45720" tIns="27432" bIns="27432" anchor="ctr">
            <a:spAutoFit/>
          </a:bodyPr>
          <a:lstStyle/>
          <a:p>
            <a:pPr algn="l"/>
            <a:r>
              <a:rPr sz="1400" b="0">
                <a:solidFill>
                  <a:srgbClr val="BCAAA4"/>
                </a:solidFill>
                <a:latin typeface="Calibri"/>
              </a:rPr>
              <a:t>Filtro por fechas y exportación a PDF y Excel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110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lIns="45720" rIns="45720" tIns="27432" bIns="27432" anchor="t">
            <a:spAutoFit/>
          </a:bodyPr>
          <a:lstStyle/>
          <a:p>
            <a:pPr algn="l"/>
            <a:r>
              <a:rPr sz="3200" b="1">
                <a:solidFill>
                  <a:srgbClr val="F3E9E2"/>
                </a:solidFill>
                <a:latin typeface="Calibri"/>
              </a:rPr>
              <a:t>Próximos pasos · Sprint 3</a:t>
            </a:r>
          </a:p>
        </p:txBody>
      </p:sp>
      <p:sp>
        <p:nvSpPr>
          <p:cNvPr id="4" name="TextBox 3"/>
          <p:cNvSpPr txBox="1"/>
          <p:nvPr/>
        </p:nvSpPr>
        <p:spPr>
          <a:xfrm>
            <a:off x="548640" y="896112"/>
            <a:ext cx="10972800" cy="365760"/>
          </a:xfrm>
          <a:prstGeom prst="rect">
            <a:avLst/>
          </a:prstGeom>
          <a:noFill/>
        </p:spPr>
        <p:txBody>
          <a:bodyPr wrap="square" lIns="45720" rIns="45720" tIns="27432" bIns="27432" anchor="t">
            <a:spAutoFit/>
          </a:bodyPr>
          <a:lstStyle/>
          <a:p>
            <a:pPr algn="l"/>
            <a:r>
              <a:rPr sz="1500" b="0">
                <a:solidFill>
                  <a:srgbClr val="A1887F"/>
                </a:solidFill>
                <a:latin typeface="Calibri"/>
              </a:rPr>
              <a:t>Prioridades y decisiones abiertas</a:t>
            </a:r>
          </a:p>
        </p:txBody>
      </p:sp>
      <p:sp>
        <p:nvSpPr>
          <p:cNvPr id="5" name="TextBox 4"/>
          <p:cNvSpPr txBox="1"/>
          <p:nvPr/>
        </p:nvSpPr>
        <p:spPr>
          <a:xfrm>
            <a:off x="548640" y="6446520"/>
            <a:ext cx="7315200" cy="274320"/>
          </a:xfrm>
          <a:prstGeom prst="rect">
            <a:avLst/>
          </a:prstGeom>
          <a:noFill/>
        </p:spPr>
        <p:txBody>
          <a:bodyPr wrap="square" lIns="45720" rIns="45720" tIns="27432" bIns="27432" anchor="t">
            <a:spAutoFit/>
          </a:bodyPr>
          <a:lstStyle/>
          <a:p>
            <a:pPr algn="l"/>
            <a:r>
              <a:rPr sz="1000" b="0">
                <a:solidFill>
                  <a:srgbClr val="BCAAA4"/>
                </a:solidFill>
                <a:latin typeface="Calibri"/>
              </a:rPr>
              <a:t>CoffeeExport Manager · RITECH SAS · Sprint 2</a:t>
            </a:r>
          </a:p>
        </p:txBody>
      </p:sp>
      <p:sp>
        <p:nvSpPr>
          <p:cNvPr id="6" name="TextBox 5"/>
          <p:cNvSpPr txBox="1"/>
          <p:nvPr/>
        </p:nvSpPr>
        <p:spPr>
          <a:xfrm>
            <a:off x="10881360" y="6446520"/>
            <a:ext cx="914400" cy="274320"/>
          </a:xfrm>
          <a:prstGeom prst="rect">
            <a:avLst/>
          </a:prstGeom>
          <a:noFill/>
        </p:spPr>
        <p:txBody>
          <a:bodyPr wrap="square" lIns="45720" rIns="45720" tIns="27432" bIns="27432" anchor="t">
            <a:spAutoFit/>
          </a:bodyPr>
          <a:lstStyle/>
          <a:p>
            <a:pPr algn="r"/>
            <a:r>
              <a:rPr sz="1000" b="0">
                <a:solidFill>
                  <a:srgbClr val="BCAAA4"/>
                </a:solidFill>
                <a:latin typeface="Calibri"/>
              </a:rPr>
              <a:t>10</a:t>
            </a:r>
          </a:p>
        </p:txBody>
      </p:sp>
      <p:sp>
        <p:nvSpPr>
          <p:cNvPr id="7" name="Rounded Rectangle 6"/>
          <p:cNvSpPr/>
          <p:nvPr/>
        </p:nvSpPr>
        <p:spPr>
          <a:xfrm>
            <a:off x="548640" y="1463040"/>
            <a:ext cx="11109960" cy="841248"/>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640080" cy="731520"/>
          </a:xfrm>
          <a:prstGeom prst="rect">
            <a:avLst/>
          </a:prstGeom>
          <a:noFill/>
        </p:spPr>
        <p:txBody>
          <a:bodyPr wrap="square" lIns="45720" rIns="45720" tIns="27432" bIns="27432" anchor="ctr">
            <a:spAutoFit/>
          </a:bodyPr>
          <a:lstStyle/>
          <a:p>
            <a:pPr algn="l"/>
            <a:r>
              <a:rPr sz="3000" b="1">
                <a:solidFill>
                  <a:srgbClr val="66BB6A"/>
                </a:solidFill>
                <a:latin typeface="Calibri"/>
              </a:rPr>
              <a:t>1</a:t>
            </a:r>
          </a:p>
        </p:txBody>
      </p:sp>
      <p:sp>
        <p:nvSpPr>
          <p:cNvPr id="9" name="TextBox 8"/>
          <p:cNvSpPr txBox="1"/>
          <p:nvPr/>
        </p:nvSpPr>
        <p:spPr>
          <a:xfrm>
            <a:off x="1463040" y="1536192"/>
            <a:ext cx="9966960" cy="365760"/>
          </a:xfrm>
          <a:prstGeom prst="rect">
            <a:avLst/>
          </a:prstGeom>
          <a:noFill/>
        </p:spPr>
        <p:txBody>
          <a:bodyPr wrap="square" lIns="45720" rIns="45720" tIns="27432" bIns="27432" anchor="t">
            <a:spAutoFit/>
          </a:bodyPr>
          <a:lstStyle/>
          <a:p>
            <a:pPr algn="l"/>
            <a:r>
              <a:rPr sz="1800" b="1">
                <a:solidFill>
                  <a:srgbClr val="F3E9E2"/>
                </a:solidFill>
                <a:latin typeface="Calibri"/>
              </a:rPr>
              <a:t>Implementar módulos pendientes</a:t>
            </a:r>
          </a:p>
        </p:txBody>
      </p:sp>
      <p:sp>
        <p:nvSpPr>
          <p:cNvPr id="10" name="TextBox 9"/>
          <p:cNvSpPr txBox="1"/>
          <p:nvPr/>
        </p:nvSpPr>
        <p:spPr>
          <a:xfrm>
            <a:off x="1463040" y="1892808"/>
            <a:ext cx="9966960" cy="365760"/>
          </a:xfrm>
          <a:prstGeom prst="rect">
            <a:avLst/>
          </a:prstGeom>
          <a:noFill/>
        </p:spPr>
        <p:txBody>
          <a:bodyPr wrap="square" lIns="45720" rIns="45720" tIns="27432" bIns="27432" anchor="t">
            <a:spAutoFit/>
          </a:bodyPr>
          <a:lstStyle/>
          <a:p>
            <a:pPr algn="l"/>
            <a:r>
              <a:rPr sz="1300" b="0">
                <a:solidFill>
                  <a:srgbClr val="BCAAA4"/>
                </a:solidFill>
                <a:latin typeface="Calibri"/>
              </a:rPr>
              <a:t>Exportaciones (HU-11 a HU-13) y Documentación (HU-14, HU-15) como prioridad del Sprint 3.</a:t>
            </a:r>
          </a:p>
        </p:txBody>
      </p:sp>
      <p:sp>
        <p:nvSpPr>
          <p:cNvPr id="11" name="Rounded Rectangle 10"/>
          <p:cNvSpPr/>
          <p:nvPr/>
        </p:nvSpPr>
        <p:spPr>
          <a:xfrm>
            <a:off x="548640" y="2414016"/>
            <a:ext cx="11109960" cy="841248"/>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59736"/>
            <a:ext cx="640080" cy="731520"/>
          </a:xfrm>
          <a:prstGeom prst="rect">
            <a:avLst/>
          </a:prstGeom>
          <a:noFill/>
        </p:spPr>
        <p:txBody>
          <a:bodyPr wrap="square" lIns="45720" rIns="45720" tIns="27432" bIns="27432" anchor="ctr">
            <a:spAutoFit/>
          </a:bodyPr>
          <a:lstStyle/>
          <a:p>
            <a:pPr algn="l"/>
            <a:r>
              <a:rPr sz="3000" b="1">
                <a:solidFill>
                  <a:srgbClr val="66BB6A"/>
                </a:solidFill>
                <a:latin typeface="Calibri"/>
              </a:rPr>
              <a:t>2</a:t>
            </a:r>
          </a:p>
        </p:txBody>
      </p:sp>
      <p:sp>
        <p:nvSpPr>
          <p:cNvPr id="13" name="TextBox 12"/>
          <p:cNvSpPr txBox="1"/>
          <p:nvPr/>
        </p:nvSpPr>
        <p:spPr>
          <a:xfrm>
            <a:off x="1463040" y="2487168"/>
            <a:ext cx="9966960" cy="365760"/>
          </a:xfrm>
          <a:prstGeom prst="rect">
            <a:avLst/>
          </a:prstGeom>
          <a:noFill/>
        </p:spPr>
        <p:txBody>
          <a:bodyPr wrap="square" lIns="45720" rIns="45720" tIns="27432" bIns="27432" anchor="t">
            <a:spAutoFit/>
          </a:bodyPr>
          <a:lstStyle/>
          <a:p>
            <a:pPr algn="l"/>
            <a:r>
              <a:rPr sz="1800" b="1">
                <a:solidFill>
                  <a:srgbClr val="F3E9E2"/>
                </a:solidFill>
                <a:latin typeface="Calibri"/>
              </a:rPr>
              <a:t>Completar Usuarios y Clientes/Productos/Inventario</a:t>
            </a:r>
          </a:p>
        </p:txBody>
      </p:sp>
      <p:sp>
        <p:nvSpPr>
          <p:cNvPr id="14" name="TextBox 13"/>
          <p:cNvSpPr txBox="1"/>
          <p:nvPr/>
        </p:nvSpPr>
        <p:spPr>
          <a:xfrm>
            <a:off x="1463040" y="2843784"/>
            <a:ext cx="9966960" cy="365760"/>
          </a:xfrm>
          <a:prstGeom prst="rect">
            <a:avLst/>
          </a:prstGeom>
          <a:noFill/>
        </p:spPr>
        <p:txBody>
          <a:bodyPr wrap="square" lIns="45720" rIns="45720" tIns="27432" bIns="27432" anchor="t">
            <a:spAutoFit/>
          </a:bodyPr>
          <a:lstStyle/>
          <a:p>
            <a:pPr algn="l"/>
            <a:r>
              <a:rPr sz="1300" b="0">
                <a:solidFill>
                  <a:srgbClr val="BCAAA4"/>
                </a:solidFill>
                <a:latin typeface="Calibri"/>
              </a:rPr>
              <a:t>HU-05 a HU-09: gestión de roles, control de acceso, búsquedas, bajas lógicas y alertas de stock.</a:t>
            </a:r>
          </a:p>
        </p:txBody>
      </p:sp>
      <p:sp>
        <p:nvSpPr>
          <p:cNvPr id="15" name="Rounded Rectangle 14"/>
          <p:cNvSpPr/>
          <p:nvPr/>
        </p:nvSpPr>
        <p:spPr>
          <a:xfrm>
            <a:off x="548640" y="3364992"/>
            <a:ext cx="11109960" cy="841248"/>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10712"/>
            <a:ext cx="640080" cy="731520"/>
          </a:xfrm>
          <a:prstGeom prst="rect">
            <a:avLst/>
          </a:prstGeom>
          <a:noFill/>
        </p:spPr>
        <p:txBody>
          <a:bodyPr wrap="square" lIns="45720" rIns="45720" tIns="27432" bIns="27432" anchor="ctr">
            <a:spAutoFit/>
          </a:bodyPr>
          <a:lstStyle/>
          <a:p>
            <a:pPr algn="l"/>
            <a:r>
              <a:rPr sz="3000" b="1">
                <a:solidFill>
                  <a:srgbClr val="66BB6A"/>
                </a:solidFill>
                <a:latin typeface="Calibri"/>
              </a:rPr>
              <a:t>3</a:t>
            </a:r>
          </a:p>
        </p:txBody>
      </p:sp>
      <p:sp>
        <p:nvSpPr>
          <p:cNvPr id="17" name="TextBox 16"/>
          <p:cNvSpPr txBox="1"/>
          <p:nvPr/>
        </p:nvSpPr>
        <p:spPr>
          <a:xfrm>
            <a:off x="1463040" y="3438144"/>
            <a:ext cx="9966960" cy="365760"/>
          </a:xfrm>
          <a:prstGeom prst="rect">
            <a:avLst/>
          </a:prstGeom>
          <a:noFill/>
        </p:spPr>
        <p:txBody>
          <a:bodyPr wrap="square" lIns="45720" rIns="45720" tIns="27432" bIns="27432" anchor="t">
            <a:spAutoFit/>
          </a:bodyPr>
          <a:lstStyle/>
          <a:p>
            <a:pPr algn="l"/>
            <a:r>
              <a:rPr sz="1800" b="1">
                <a:solidFill>
                  <a:srgbClr val="F3E9E2"/>
                </a:solidFill>
                <a:latin typeface="Calibri"/>
              </a:rPr>
              <a:t>Ejecutar el plan de pruebas</a:t>
            </a:r>
          </a:p>
        </p:txBody>
      </p:sp>
      <p:sp>
        <p:nvSpPr>
          <p:cNvPr id="18" name="TextBox 17"/>
          <p:cNvSpPr txBox="1"/>
          <p:nvPr/>
        </p:nvSpPr>
        <p:spPr>
          <a:xfrm>
            <a:off x="1463040" y="3794760"/>
            <a:ext cx="9966960" cy="365760"/>
          </a:xfrm>
          <a:prstGeom prst="rect">
            <a:avLst/>
          </a:prstGeom>
          <a:noFill/>
        </p:spPr>
        <p:txBody>
          <a:bodyPr wrap="square" lIns="45720" rIns="45720" tIns="27432" bIns="27432" anchor="t">
            <a:spAutoFit/>
          </a:bodyPr>
          <a:lstStyle/>
          <a:p>
            <a:pPr algn="l"/>
            <a:r>
              <a:rPr sz="1300" b="0">
                <a:solidFill>
                  <a:srgbClr val="BCAAA4"/>
                </a:solidFill>
                <a:latin typeface="Calibri"/>
              </a:rPr>
              <a:t>Correr los casos QA/QC con JUnit 5, Mockito y MockMvc contra MySQL y registrar resultados.</a:t>
            </a:r>
          </a:p>
        </p:txBody>
      </p:sp>
      <p:sp>
        <p:nvSpPr>
          <p:cNvPr id="19" name="Rounded Rectangle 18"/>
          <p:cNvSpPr/>
          <p:nvPr/>
        </p:nvSpPr>
        <p:spPr>
          <a:xfrm>
            <a:off x="548640" y="4315968"/>
            <a:ext cx="11109960" cy="841248"/>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1688"/>
            <a:ext cx="640080" cy="731520"/>
          </a:xfrm>
          <a:prstGeom prst="rect">
            <a:avLst/>
          </a:prstGeom>
          <a:noFill/>
        </p:spPr>
        <p:txBody>
          <a:bodyPr wrap="square" lIns="45720" rIns="45720" tIns="27432" bIns="27432" anchor="ctr">
            <a:spAutoFit/>
          </a:bodyPr>
          <a:lstStyle/>
          <a:p>
            <a:pPr algn="l"/>
            <a:r>
              <a:rPr sz="3000" b="1">
                <a:solidFill>
                  <a:srgbClr val="66BB6A"/>
                </a:solidFill>
                <a:latin typeface="Calibri"/>
              </a:rPr>
              <a:t>4</a:t>
            </a:r>
          </a:p>
        </p:txBody>
      </p:sp>
      <p:sp>
        <p:nvSpPr>
          <p:cNvPr id="21" name="TextBox 20"/>
          <p:cNvSpPr txBox="1"/>
          <p:nvPr/>
        </p:nvSpPr>
        <p:spPr>
          <a:xfrm>
            <a:off x="1463040" y="4389120"/>
            <a:ext cx="9966960" cy="365760"/>
          </a:xfrm>
          <a:prstGeom prst="rect">
            <a:avLst/>
          </a:prstGeom>
          <a:noFill/>
        </p:spPr>
        <p:txBody>
          <a:bodyPr wrap="square" lIns="45720" rIns="45720" tIns="27432" bIns="27432" anchor="t">
            <a:spAutoFit/>
          </a:bodyPr>
          <a:lstStyle/>
          <a:p>
            <a:pPr algn="l"/>
            <a:r>
              <a:rPr sz="1800" b="1">
                <a:solidFill>
                  <a:srgbClr val="F3E9E2"/>
                </a:solidFill>
                <a:latin typeface="Calibri"/>
              </a:rPr>
              <a:t>Pagos, Reportes y Dashboard</a:t>
            </a:r>
          </a:p>
        </p:txBody>
      </p:sp>
      <p:sp>
        <p:nvSpPr>
          <p:cNvPr id="22" name="TextBox 21"/>
          <p:cNvSpPr txBox="1"/>
          <p:nvPr/>
        </p:nvSpPr>
        <p:spPr>
          <a:xfrm>
            <a:off x="1463040" y="4745736"/>
            <a:ext cx="9966960" cy="365760"/>
          </a:xfrm>
          <a:prstGeom prst="rect">
            <a:avLst/>
          </a:prstGeom>
          <a:noFill/>
        </p:spPr>
        <p:txBody>
          <a:bodyPr wrap="square" lIns="45720" rIns="45720" tIns="27432" bIns="27432" anchor="t">
            <a:spAutoFit/>
          </a:bodyPr>
          <a:lstStyle/>
          <a:p>
            <a:pPr algn="l"/>
            <a:r>
              <a:rPr sz="1300" b="0">
                <a:solidFill>
                  <a:srgbClr val="BCAAA4"/>
                </a:solidFill>
                <a:latin typeface="Calibri"/>
              </a:rPr>
              <a:t>HU-10, HU-13 y HU-16 a HU-21 planificadas para el Sprint 4.</a:t>
            </a:r>
          </a:p>
        </p:txBody>
      </p:sp>
      <p:sp>
        <p:nvSpPr>
          <p:cNvPr id="23" name="Rounded Rectangle 22"/>
          <p:cNvSpPr/>
          <p:nvPr/>
        </p:nvSpPr>
        <p:spPr>
          <a:xfrm>
            <a:off x="548640" y="5266944"/>
            <a:ext cx="11109960" cy="841248"/>
          </a:xfrm>
          <a:prstGeom prst="roundRect">
            <a:avLst>
              <a:gd name="adj" fmla="val 6000"/>
            </a:avLst>
          </a:prstGeom>
          <a:solidFill>
            <a:srgbClr val="221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312664"/>
            <a:ext cx="640080" cy="731520"/>
          </a:xfrm>
          <a:prstGeom prst="rect">
            <a:avLst/>
          </a:prstGeom>
          <a:noFill/>
        </p:spPr>
        <p:txBody>
          <a:bodyPr wrap="square" lIns="45720" rIns="45720" tIns="27432" bIns="27432" anchor="ctr">
            <a:spAutoFit/>
          </a:bodyPr>
          <a:lstStyle/>
          <a:p>
            <a:pPr algn="l"/>
            <a:r>
              <a:rPr sz="3000" b="1">
                <a:solidFill>
                  <a:srgbClr val="66BB6A"/>
                </a:solidFill>
                <a:latin typeface="Calibri"/>
              </a:rPr>
              <a:t>5</a:t>
            </a:r>
          </a:p>
        </p:txBody>
      </p:sp>
      <p:sp>
        <p:nvSpPr>
          <p:cNvPr id="25" name="TextBox 24"/>
          <p:cNvSpPr txBox="1"/>
          <p:nvPr/>
        </p:nvSpPr>
        <p:spPr>
          <a:xfrm>
            <a:off x="1463040" y="5340096"/>
            <a:ext cx="9966960" cy="365760"/>
          </a:xfrm>
          <a:prstGeom prst="rect">
            <a:avLst/>
          </a:prstGeom>
          <a:noFill/>
        </p:spPr>
        <p:txBody>
          <a:bodyPr wrap="square" lIns="45720" rIns="45720" tIns="27432" bIns="27432" anchor="t">
            <a:spAutoFit/>
          </a:bodyPr>
          <a:lstStyle/>
          <a:p>
            <a:pPr algn="l"/>
            <a:r>
              <a:rPr sz="1800" b="1">
                <a:solidFill>
                  <a:srgbClr val="F3E9E2"/>
                </a:solidFill>
                <a:latin typeface="Calibri"/>
              </a:rPr>
              <a:t>Cierre de decisiones abiertas</a:t>
            </a:r>
          </a:p>
        </p:txBody>
      </p:sp>
      <p:sp>
        <p:nvSpPr>
          <p:cNvPr id="26" name="TextBox 25"/>
          <p:cNvSpPr txBox="1"/>
          <p:nvPr/>
        </p:nvSpPr>
        <p:spPr>
          <a:xfrm>
            <a:off x="1463040" y="5696712"/>
            <a:ext cx="9966960" cy="365760"/>
          </a:xfrm>
          <a:prstGeom prst="rect">
            <a:avLst/>
          </a:prstGeom>
          <a:noFill/>
        </p:spPr>
        <p:txBody>
          <a:bodyPr wrap="square" lIns="45720" rIns="45720" tIns="27432" bIns="27432" anchor="t">
            <a:spAutoFit/>
          </a:bodyPr>
          <a:lstStyle/>
          <a:p>
            <a:pPr algn="l"/>
            <a:r>
              <a:rPr sz="1300" b="0">
                <a:solidFill>
                  <a:srgbClr val="BCAAA4"/>
                </a:solidFill>
                <a:latin typeface="Calibri"/>
              </a:rPr>
              <a:t>Alcance del MVP, estrategia de despliegue, normativa UE y cronograma (preguntas pendientes con el docente).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